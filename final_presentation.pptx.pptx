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mo Bold" charset="1" panose="020B0704020202020204"/>
      <p:regular r:id="rId24"/>
    </p:embeddedFont>
    <p:embeddedFont>
      <p:font typeface="Arimo" charset="1" panose="020B0604020202020204"/>
      <p:regular r:id="rId25"/>
    </p:embeddedFont>
    <p:embeddedFont>
      <p:font typeface="Merriweather Bold" charset="1" panose="00000800000000000000"/>
      <p:regular r:id="rId28"/>
    </p:embeddedFont>
    <p:embeddedFont>
      <p:font typeface="DM Sans" charset="1" panose="00000000000000000000"/>
      <p:regular r:id="rId29"/>
    </p:embeddedFont>
    <p:embeddedFont>
      <p:font typeface="DM Sans Bold" charset="1" panose="00000000000000000000"/>
      <p:regular r:id="rId34"/>
    </p:embeddedFont>
    <p:embeddedFont>
      <p:font typeface="JetBrains Mono" charset="1" panose="020105090201020500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jpe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2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2.png" Type="http://schemas.openxmlformats.org/officeDocument/2006/relationships/image"/><Relationship Id="rId8" Target="../media/image14.pn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2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10.jpe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12" Target="../media/image46.png" Type="http://schemas.openxmlformats.org/officeDocument/2006/relationships/image"/><Relationship Id="rId13" Target="../media/image47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2.pn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2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10.jpeg" Type="http://schemas.openxmlformats.org/officeDocument/2006/relationships/image"/><Relationship Id="rId16" Target="../media/image58.png" Type="http://schemas.openxmlformats.org/officeDocument/2006/relationships/image"/><Relationship Id="rId17" Target="../media/image59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png" Type="http://schemas.openxmlformats.org/officeDocument/2006/relationships/image"/><Relationship Id="rId12" Target="../media/image67.png" Type="http://schemas.openxmlformats.org/officeDocument/2006/relationships/image"/><Relationship Id="rId13" Target="../media/image68.png" Type="http://schemas.openxmlformats.org/officeDocument/2006/relationships/image"/><Relationship Id="rId14" Target="../media/image69.png" Type="http://schemas.openxmlformats.org/officeDocument/2006/relationships/image"/><Relationship Id="rId15" Target="../media/image70.png" Type="http://schemas.openxmlformats.org/officeDocument/2006/relationships/image"/><Relationship Id="rId16" Target="../media/image71.png" Type="http://schemas.openxmlformats.org/officeDocument/2006/relationships/image"/><Relationship Id="rId17" Target="../media/image72.png" Type="http://schemas.openxmlformats.org/officeDocument/2006/relationships/image"/><Relationship Id="rId18" Target="../media/image10.jpe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39.png" Type="http://schemas.openxmlformats.org/officeDocument/2006/relationships/image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png" Type="http://schemas.openxmlformats.org/officeDocument/2006/relationships/image"/><Relationship Id="rId12" Target="../media/image87.png" Type="http://schemas.openxmlformats.org/officeDocument/2006/relationships/image"/><Relationship Id="rId13" Target="../media/image88.png" Type="http://schemas.openxmlformats.org/officeDocument/2006/relationships/image"/><Relationship Id="rId14" Target="../media/image89.png" Type="http://schemas.openxmlformats.org/officeDocument/2006/relationships/image"/><Relationship Id="rId15" Target="../media/image90.png" Type="http://schemas.openxmlformats.org/officeDocument/2006/relationships/image"/><Relationship Id="rId16" Target="../media/image91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2.png" Type="http://schemas.openxmlformats.org/officeDocument/2006/relationships/image"/><Relationship Id="rId8" Target="../media/image10.jpe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92.png" Type="http://schemas.openxmlformats.org/officeDocument/2006/relationships/image"/><Relationship Id="rId5" Target="../media/image93.png" Type="http://schemas.openxmlformats.org/officeDocument/2006/relationships/image"/><Relationship Id="rId6" Target="../media/image94.png" Type="http://schemas.openxmlformats.org/officeDocument/2006/relationships/image"/><Relationship Id="rId7" Target="../media/image2.png" Type="http://schemas.openxmlformats.org/officeDocument/2006/relationships/image"/><Relationship Id="rId8" Target="../media/image10.jpe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3.png" Type="http://schemas.openxmlformats.org/officeDocument/2006/relationships/image"/><Relationship Id="rId12" Target="../media/image104.png" Type="http://schemas.openxmlformats.org/officeDocument/2006/relationships/image"/><Relationship Id="rId13" Target="../media/image105.png" Type="http://schemas.openxmlformats.org/officeDocument/2006/relationships/image"/><Relationship Id="rId14" Target="../media/image106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98.pn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2.png" Type="http://schemas.openxmlformats.org/officeDocument/2006/relationships/image"/><Relationship Id="rId8" Target="../media/image10.jpe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13" Target="../media/image114.png" Type="http://schemas.openxmlformats.org/officeDocument/2006/relationships/image"/><Relationship Id="rId14" Target="../media/image115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3.png" Type="http://schemas.openxmlformats.org/officeDocument/2006/relationships/image"/><Relationship Id="rId4" Target="../media/image107.png" Type="http://schemas.openxmlformats.org/officeDocument/2006/relationships/image"/><Relationship Id="rId5" Target="../media/image108.png" Type="http://schemas.openxmlformats.org/officeDocument/2006/relationships/image"/><Relationship Id="rId6" Target="../media/image109.png" Type="http://schemas.openxmlformats.org/officeDocument/2006/relationships/image"/><Relationship Id="rId7" Target="../media/image2.png" Type="http://schemas.openxmlformats.org/officeDocument/2006/relationships/image"/><Relationship Id="rId8" Target="../media/image10.jpe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png" Type="http://schemas.openxmlformats.org/officeDocument/2006/relationships/image"/><Relationship Id="rId4" Target="../media/image116.png" Type="http://schemas.openxmlformats.org/officeDocument/2006/relationships/image"/><Relationship Id="rId5" Target="../media/image2.png" Type="http://schemas.openxmlformats.org/officeDocument/2006/relationships/image"/><Relationship Id="rId6" Target="../media/image117.png" Type="http://schemas.openxmlformats.org/officeDocument/2006/relationships/image"/><Relationship Id="rId7" Target="../media/image10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7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598415"/>
            <a:ext cx="15973425" cy="3908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1"/>
              </a:lnSpc>
            </a:pPr>
            <a:r>
              <a:rPr lang="en-US" b="true" sz="517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  <a:r>
              <a:rPr lang="en-US" b="true" sz="517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obust Multi-Robot Mapless Navigation in Dynamic Hospital Environments with Accurate Intention Inference, Trajectory Prediction, and Explainable AI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7288" y="6011466"/>
            <a:ext cx="1428750" cy="57150"/>
            <a:chOff x="0" y="0"/>
            <a:chExt cx="19050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" cy="76200"/>
            </a:xfrm>
            <a:custGeom>
              <a:avLst/>
              <a:gdLst/>
              <a:ahLst/>
              <a:cxnLst/>
              <a:rect r="r" b="b" t="t" l="l"/>
              <a:pathLst>
                <a:path h="762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7288" y="6425803"/>
            <a:ext cx="7029450" cy="55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b="true" sz="202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Presented by: Naveen Kumar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86938" y="6425803"/>
            <a:ext cx="4229100" cy="508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Supervisor: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86938" y="6872440"/>
            <a:ext cx="42291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687">
                <a:solidFill>
                  <a:srgbClr val="4F46E5"/>
                </a:solidFill>
                <a:latin typeface="Arimo Bold"/>
                <a:ea typeface="Arimo Bold"/>
                <a:cs typeface="Arimo Bold"/>
                <a:sym typeface="Arimo Bold"/>
              </a:rPr>
              <a:t>Prof. Dr. Amar Behera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86938" y="7439177"/>
            <a:ext cx="4229100" cy="44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Date: July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4107656"/>
            <a:ext cx="3636169" cy="1683020"/>
            <a:chOff x="0" y="0"/>
            <a:chExt cx="4848225" cy="224402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848225" cy="2244090"/>
            </a:xfrm>
            <a:custGeom>
              <a:avLst/>
              <a:gdLst/>
              <a:ahLst/>
              <a:cxnLst/>
              <a:rect r="r" b="b" t="t" l="l"/>
              <a:pathLst>
                <a:path h="2244090" w="4848225">
                  <a:moveTo>
                    <a:pt x="0" y="0"/>
                  </a:moveTo>
                  <a:lnTo>
                    <a:pt x="4848225" y="0"/>
                  </a:lnTo>
                  <a:lnTo>
                    <a:pt x="4848225" y="2244090"/>
                  </a:lnTo>
                  <a:lnTo>
                    <a:pt x="0" y="2244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2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94544" y="4107656"/>
            <a:ext cx="3636169" cy="1683020"/>
            <a:chOff x="0" y="0"/>
            <a:chExt cx="4848225" cy="224402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848225" cy="2244090"/>
            </a:xfrm>
            <a:custGeom>
              <a:avLst/>
              <a:gdLst/>
              <a:ahLst/>
              <a:cxnLst/>
              <a:rect r="r" b="b" t="t" l="l"/>
              <a:pathLst>
                <a:path h="2244090" w="4848225">
                  <a:moveTo>
                    <a:pt x="0" y="0"/>
                  </a:moveTo>
                  <a:lnTo>
                    <a:pt x="4848225" y="0"/>
                  </a:lnTo>
                  <a:lnTo>
                    <a:pt x="4848225" y="2244090"/>
                  </a:lnTo>
                  <a:lnTo>
                    <a:pt x="0" y="2244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82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72625" y="6076426"/>
            <a:ext cx="7558088" cy="1683020"/>
            <a:chOff x="0" y="0"/>
            <a:chExt cx="10077450" cy="224402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077450" cy="2244090"/>
            </a:xfrm>
            <a:custGeom>
              <a:avLst/>
              <a:gdLst/>
              <a:ahLst/>
              <a:cxnLst/>
              <a:rect r="r" b="b" t="t" l="l"/>
              <a:pathLst>
                <a:path h="2244090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2244090"/>
                  </a:lnTo>
                  <a:lnTo>
                    <a:pt x="0" y="2244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82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7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87788" y="9610725"/>
            <a:ext cx="5429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288" y="3802332"/>
            <a:ext cx="7558088" cy="128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025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Synthesizing state-of-the-art sensory architectures and learning pipelines to safely pilot robots in dynamic hospital environments.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1638" y="5302520"/>
            <a:ext cx="70437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Autonomous Framework: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Build a complete model for navigation inside unpredictable human environments.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1638" y="6216920"/>
            <a:ext cx="70437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State Construction: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Aggregate spatial, human tracking, and odometry metrics comprehensively.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1638" y="7131320"/>
            <a:ext cx="70437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Social Safety: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Learn dynamic policies obeying human social boundaries.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72662" y="4312444"/>
            <a:ext cx="3036094" cy="84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400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72662" y="5223939"/>
            <a:ext cx="30360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SENSOR INPUTS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94581" y="4312444"/>
            <a:ext cx="3036094" cy="84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400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160D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94581" y="5223939"/>
            <a:ext cx="303609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STATE SPACE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72662" y="6281214"/>
            <a:ext cx="6958012" cy="84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400">
                <a:solidFill>
                  <a:srgbClr val="F59E0B"/>
                </a:solidFill>
                <a:latin typeface="Arimo"/>
                <a:ea typeface="Arimo"/>
                <a:cs typeface="Arimo"/>
                <a:sym typeface="Arimo"/>
              </a:rPr>
              <a:t>PPO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72662" y="7192709"/>
            <a:ext cx="695801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OPTIMIZED CONTROL POLICY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57288" y="5462064"/>
            <a:ext cx="257175" cy="271462"/>
            <a:chOff x="0" y="0"/>
            <a:chExt cx="342900" cy="3619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7288" y="6376464"/>
            <a:ext cx="257175" cy="271462"/>
            <a:chOff x="0" y="0"/>
            <a:chExt cx="342900" cy="3619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57288" y="7290864"/>
            <a:ext cx="257175" cy="271462"/>
            <a:chOff x="0" y="0"/>
            <a:chExt cx="342900" cy="3619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Core Research Objectives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29750" y="3064888"/>
            <a:ext cx="7700962" cy="5737327"/>
            <a:chOff x="0" y="0"/>
            <a:chExt cx="10267950" cy="7649769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267950" cy="7649718"/>
            </a:xfrm>
            <a:custGeom>
              <a:avLst/>
              <a:gdLst/>
              <a:ahLst/>
              <a:cxnLst/>
              <a:rect r="r" b="b" t="t" l="l"/>
              <a:pathLst>
                <a:path h="7649718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7649718"/>
                  </a:lnTo>
                  <a:lnTo>
                    <a:pt x="0" y="7649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7288" y="3064888"/>
            <a:ext cx="7700962" cy="2665514"/>
            <a:chOff x="0" y="0"/>
            <a:chExt cx="10267950" cy="3554019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267950" cy="3553968"/>
            </a:xfrm>
            <a:custGeom>
              <a:avLst/>
              <a:gdLst/>
              <a:ahLst/>
              <a:cxnLst/>
              <a:rect r="r" b="b" t="t" l="l"/>
              <a:pathLst>
                <a:path h="3553968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553968"/>
                  </a:lnTo>
                  <a:lnTo>
                    <a:pt x="0" y="3553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5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7288" y="6016152"/>
            <a:ext cx="7700962" cy="2786062"/>
            <a:chOff x="0" y="0"/>
            <a:chExt cx="10267950" cy="3714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267950" cy="3714750"/>
            </a:xfrm>
            <a:custGeom>
              <a:avLst/>
              <a:gdLst/>
              <a:ahLst/>
              <a:cxnLst/>
              <a:rect r="r" b="b" t="t" l="l"/>
              <a:pathLst>
                <a:path h="371475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714750"/>
                  </a:lnTo>
                  <a:lnTo>
                    <a:pt x="0" y="3714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2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7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87788" y="9610725"/>
            <a:ext cx="5429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44038" y="3079175"/>
            <a:ext cx="7672388" cy="5708752"/>
            <a:chOff x="0" y="0"/>
            <a:chExt cx="10229850" cy="76116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29850" cy="7611618"/>
            </a:xfrm>
            <a:custGeom>
              <a:avLst/>
              <a:gdLst/>
              <a:ahLst/>
              <a:cxnLst/>
              <a:rect r="r" b="b" t="t" l="l"/>
              <a:pathLst>
                <a:path h="7611618" w="10229850">
                  <a:moveTo>
                    <a:pt x="0" y="0"/>
                  </a:moveTo>
                  <a:lnTo>
                    <a:pt x="10229850" y="0"/>
                  </a:lnTo>
                  <a:lnTo>
                    <a:pt x="10229850" y="7611618"/>
                  </a:lnTo>
                  <a:lnTo>
                    <a:pt x="0" y="7611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894" r="0" b="-4894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80381" y="3422075"/>
            <a:ext cx="6846713" cy="357188"/>
            <a:chOff x="0" y="0"/>
            <a:chExt cx="9128950" cy="476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28952" cy="476250"/>
            </a:xfrm>
            <a:custGeom>
              <a:avLst/>
              <a:gdLst/>
              <a:ahLst/>
              <a:cxnLst/>
              <a:rect r="r" b="b" t="t" l="l"/>
              <a:pathLst>
                <a:path h="476250" w="9128952">
                  <a:moveTo>
                    <a:pt x="0" y="0"/>
                  </a:moveTo>
                  <a:lnTo>
                    <a:pt x="9128952" y="0"/>
                  </a:lnTo>
                  <a:lnTo>
                    <a:pt x="9128952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3497" r="0" b="-32349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912895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Simulation Platform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14475" y="3826888"/>
            <a:ext cx="6986588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b="true" sz="1575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ROS2 Jazzy &amp; Gazebo Harmonic:</a:t>
            </a: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Real-time hardware emulation in a dynamic hospital world with moving pedestrians and nurse stations.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4475" y="4609576"/>
            <a:ext cx="6986588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b="true" sz="1575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Robot Base:</a:t>
            </a: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Custom TurtleBot3-inspired differential chassis mapped to real-time odometry metrics.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008956" y="6373339"/>
            <a:ext cx="6816709" cy="357188"/>
            <a:chOff x="0" y="0"/>
            <a:chExt cx="9088946" cy="476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88948" cy="476250"/>
            </a:xfrm>
            <a:custGeom>
              <a:avLst/>
              <a:gdLst/>
              <a:ahLst/>
              <a:cxnLst/>
              <a:rect r="r" b="b" t="t" l="l"/>
              <a:pathLst>
                <a:path h="476250" w="9088948">
                  <a:moveTo>
                    <a:pt x="0" y="0"/>
                  </a:moveTo>
                  <a:lnTo>
                    <a:pt x="9088948" y="0"/>
                  </a:lnTo>
                  <a:lnTo>
                    <a:pt x="9088948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1860" r="0" b="-3218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08894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 Sensor Topics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14475" y="3457794"/>
            <a:ext cx="323031" cy="285750"/>
            <a:chOff x="0" y="0"/>
            <a:chExt cx="430708" cy="381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30657" cy="381000"/>
            </a:xfrm>
            <a:custGeom>
              <a:avLst/>
              <a:gdLst/>
              <a:ahLst/>
              <a:cxnLst/>
              <a:rect r="r" b="b" t="t" l="l"/>
              <a:pathLst>
                <a:path h="381000" w="430657">
                  <a:moveTo>
                    <a:pt x="0" y="0"/>
                  </a:moveTo>
                  <a:lnTo>
                    <a:pt x="430657" y="0"/>
                  </a:lnTo>
                  <a:lnTo>
                    <a:pt x="43065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1" b="-321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14475" y="6409058"/>
            <a:ext cx="351606" cy="285750"/>
            <a:chOff x="0" y="0"/>
            <a:chExt cx="468808" cy="381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68757" cy="381000"/>
            </a:xfrm>
            <a:custGeom>
              <a:avLst/>
              <a:gdLst/>
              <a:ahLst/>
              <a:cxnLst/>
              <a:rect r="r" b="b" t="t" l="l"/>
              <a:pathLst>
                <a:path h="381000" w="468757">
                  <a:moveTo>
                    <a:pt x="0" y="0"/>
                  </a:moveTo>
                  <a:lnTo>
                    <a:pt x="468757" y="0"/>
                  </a:lnTo>
                  <a:lnTo>
                    <a:pt x="46875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0" b="-3359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028825" y="6806727"/>
            <a:ext cx="64722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3D LiDAR — /velodyne_points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28825" y="7228208"/>
            <a:ext cx="64722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Depth Camera — /depth/image_raw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28825" y="7649689"/>
            <a:ext cx="64722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IMU Sensor — /imu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28825" y="8071171"/>
            <a:ext cx="64722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Wheel Encoder — /joint_states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514475" y="6937696"/>
            <a:ext cx="328612" cy="271462"/>
            <a:chOff x="0" y="0"/>
            <a:chExt cx="438150" cy="3619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14475" y="7359177"/>
            <a:ext cx="257175" cy="271462"/>
            <a:chOff x="0" y="0"/>
            <a:chExt cx="342900" cy="3619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14475" y="7780658"/>
            <a:ext cx="257175" cy="271462"/>
            <a:chOff x="0" y="0"/>
            <a:chExt cx="342900" cy="36195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514475" y="8202139"/>
            <a:ext cx="257175" cy="271462"/>
            <a:chOff x="0" y="0"/>
            <a:chExt cx="342900" cy="36195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Gazebo Environment &amp; Sensor Suite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94069" y="1028700"/>
            <a:ext cx="7256887" cy="4081999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2130" r="0" b="-6213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5" y="5400565"/>
            <a:ext cx="7858125" cy="4186238"/>
            <a:chOff x="0" y="0"/>
            <a:chExt cx="10477500" cy="55816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5581650"/>
            </a:xfrm>
            <a:custGeom>
              <a:avLst/>
              <a:gdLst/>
              <a:ahLst/>
              <a:cxnLst/>
              <a:rect r="r" b="b" t="t" l="l"/>
              <a:pathLst>
                <a:path h="55816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5581650"/>
                  </a:lnTo>
                  <a:lnTo>
                    <a:pt x="0" y="5581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971831"/>
            <a:ext cx="1775889" cy="857469"/>
            <a:chOff x="0" y="0"/>
            <a:chExt cx="2367852" cy="114329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367915" cy="1143254"/>
            </a:xfrm>
            <a:custGeom>
              <a:avLst/>
              <a:gdLst/>
              <a:ahLst/>
              <a:cxnLst/>
              <a:rect r="r" b="b" t="t" l="l"/>
              <a:pathLst>
                <a:path h="1143254" w="2367915">
                  <a:moveTo>
                    <a:pt x="0" y="0"/>
                  </a:moveTo>
                  <a:lnTo>
                    <a:pt x="2367915" y="0"/>
                  </a:lnTo>
                  <a:lnTo>
                    <a:pt x="2367915" y="1143254"/>
                  </a:lnTo>
                  <a:lnTo>
                    <a:pt x="0" y="1143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107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3000" y="857250"/>
            <a:ext cx="1710213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1E3A8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LiDAR Encoder: PointNet++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7250" y="857250"/>
            <a:ext cx="114300" cy="742950"/>
            <a:chOff x="0" y="0"/>
            <a:chExt cx="152400" cy="99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" cy="990600"/>
            </a:xfrm>
            <a:custGeom>
              <a:avLst/>
              <a:gdLst/>
              <a:ahLst/>
              <a:cxnLst/>
              <a:rect r="r" b="b" t="t" l="l"/>
              <a:pathLst>
                <a:path h="990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1CAA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3466881"/>
            <a:ext cx="785812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We utilize hierarchical feature extraction to process raw 3D point clouds into a compact 64D embedding.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72662" y="5519737"/>
            <a:ext cx="7620953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106">
                <a:solidFill>
                  <a:srgbClr val="1A365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PointNet++ Stages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2662" y="6338887"/>
            <a:ext cx="72580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1. Input (1024 points)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2662" y="7024687"/>
            <a:ext cx="72580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2. Set Abstraction (SA) Layers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72662" y="7867650"/>
            <a:ext cx="72580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3. Global Feature Aggregation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2662" y="8538061"/>
            <a:ext cx="72580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4. Output Embedding (64D)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57288" y="5271868"/>
            <a:ext cx="1175814" cy="257394"/>
            <a:chOff x="0" y="0"/>
            <a:chExt cx="1567752" cy="343192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567815" cy="343154"/>
            </a:xfrm>
            <a:custGeom>
              <a:avLst/>
              <a:gdLst/>
              <a:ahLst/>
              <a:cxnLst/>
              <a:rect r="r" b="b" t="t" l="l"/>
              <a:pathLst>
                <a:path h="343154" w="1567815">
                  <a:moveTo>
                    <a:pt x="0" y="0"/>
                  </a:moveTo>
                  <a:lnTo>
                    <a:pt x="1567815" y="0"/>
                  </a:lnTo>
                  <a:lnTo>
                    <a:pt x="1567815" y="343154"/>
                  </a:lnTo>
                  <a:lnTo>
                    <a:pt x="0" y="343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-458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8750" y="6038850"/>
            <a:ext cx="728662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Sampling: Downsamples Raw points to 1024  points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8750" y="6724650"/>
            <a:ext cx="72866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Grouping: Captures local neighborhoods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8750" y="7410450"/>
            <a:ext cx="72866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Projection: MLP reduces 1024D to 64D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7250" y="6200775"/>
            <a:ext cx="285750" cy="300038"/>
            <a:chOff x="0" y="0"/>
            <a:chExt cx="381000" cy="4000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57250" y="6886575"/>
            <a:ext cx="285750" cy="300038"/>
            <a:chOff x="0" y="0"/>
            <a:chExt cx="381000" cy="4000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57250" y="7572375"/>
            <a:ext cx="285750" cy="300038"/>
            <a:chOff x="0" y="0"/>
            <a:chExt cx="381000" cy="4000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2930271"/>
            <a:ext cx="7700962" cy="6006332"/>
            <a:chOff x="0" y="0"/>
            <a:chExt cx="10267950" cy="8008442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267950" cy="8008493"/>
            </a:xfrm>
            <a:custGeom>
              <a:avLst/>
              <a:gdLst/>
              <a:ahLst/>
              <a:cxnLst/>
              <a:rect r="r" b="b" t="t" l="l"/>
              <a:pathLst>
                <a:path h="8008493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8008493"/>
                  </a:lnTo>
                  <a:lnTo>
                    <a:pt x="0" y="8008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7325" y="3773234"/>
            <a:ext cx="7100888" cy="1125807"/>
            <a:chOff x="0" y="0"/>
            <a:chExt cx="9467850" cy="150107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9467850" cy="1501140"/>
            </a:xfrm>
            <a:custGeom>
              <a:avLst/>
              <a:gdLst/>
              <a:ahLst/>
              <a:cxnLst/>
              <a:rect r="r" b="b" t="t" l="l"/>
              <a:pathLst>
                <a:path h="150114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1501140"/>
                  </a:lnTo>
                  <a:lnTo>
                    <a:pt x="0" y="1501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44" b="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57325" y="5656288"/>
            <a:ext cx="7100888" cy="1111520"/>
            <a:chOff x="0" y="0"/>
            <a:chExt cx="9467850" cy="148202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467850" cy="1482090"/>
            </a:xfrm>
            <a:custGeom>
              <a:avLst/>
              <a:gdLst/>
              <a:ahLst/>
              <a:cxnLst/>
              <a:rect r="r" b="b" t="t" l="l"/>
              <a:pathLst>
                <a:path h="148209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1482090"/>
                  </a:lnTo>
                  <a:lnTo>
                    <a:pt x="0" y="1482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93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7325" y="7525045"/>
            <a:ext cx="7100888" cy="1111520"/>
            <a:chOff x="0" y="0"/>
            <a:chExt cx="9467850" cy="1482026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9467850" cy="1482090"/>
            </a:xfrm>
            <a:custGeom>
              <a:avLst/>
              <a:gdLst/>
              <a:ahLst/>
              <a:cxnLst/>
              <a:rect r="r" b="b" t="t" l="l"/>
              <a:pathLst>
                <a:path h="1482090" w="9467850">
                  <a:moveTo>
                    <a:pt x="0" y="0"/>
                  </a:moveTo>
                  <a:lnTo>
                    <a:pt x="9467850" y="0"/>
                  </a:lnTo>
                  <a:lnTo>
                    <a:pt x="9467850" y="1482090"/>
                  </a:lnTo>
                  <a:lnTo>
                    <a:pt x="0" y="1482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93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2930271"/>
            <a:ext cx="7700962" cy="2860177"/>
            <a:chOff x="0" y="0"/>
            <a:chExt cx="10267950" cy="3813569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267950" cy="3813556"/>
            </a:xfrm>
            <a:custGeom>
              <a:avLst/>
              <a:gdLst/>
              <a:ahLst/>
              <a:cxnLst/>
              <a:rect r="r" b="b" t="t" l="l"/>
              <a:pathLst>
                <a:path h="3813556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813556"/>
                  </a:lnTo>
                  <a:lnTo>
                    <a:pt x="0" y="381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2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29750" y="6076426"/>
            <a:ext cx="7700962" cy="2860177"/>
            <a:chOff x="0" y="0"/>
            <a:chExt cx="10267950" cy="3813569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267950" cy="3813556"/>
            </a:xfrm>
            <a:custGeom>
              <a:avLst/>
              <a:gdLst/>
              <a:ahLst/>
              <a:cxnLst/>
              <a:rect r="r" b="b" t="t" l="l"/>
              <a:pathLst>
                <a:path h="3813556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3813556"/>
                  </a:lnTo>
                  <a:lnTo>
                    <a:pt x="0" y="381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2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00212" y="4078853"/>
            <a:ext cx="514350" cy="514350"/>
            <a:chOff x="0" y="0"/>
            <a:chExt cx="685800" cy="6858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77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00212" y="5954763"/>
            <a:ext cx="514350" cy="514350"/>
            <a:chOff x="0" y="0"/>
            <a:chExt cx="685800" cy="6858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77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00212" y="7823521"/>
            <a:ext cx="514350" cy="514350"/>
            <a:chOff x="0" y="0"/>
            <a:chExt cx="68580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277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78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87788" y="9610725"/>
            <a:ext cx="5429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46589" y="3263646"/>
            <a:ext cx="7240286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106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Feature Generation Map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57325" y="3273171"/>
            <a:ext cx="323479" cy="267443"/>
            <a:chOff x="0" y="0"/>
            <a:chExt cx="431305" cy="356591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431292" cy="356616"/>
            </a:xfrm>
            <a:custGeom>
              <a:avLst/>
              <a:gdLst/>
              <a:ahLst/>
              <a:cxnLst/>
              <a:rect r="r" b="b" t="t" l="l"/>
              <a:pathLst>
                <a:path h="356616" w="431292">
                  <a:moveTo>
                    <a:pt x="0" y="0"/>
                  </a:moveTo>
                  <a:lnTo>
                    <a:pt x="431292" y="0"/>
                  </a:lnTo>
                  <a:lnTo>
                    <a:pt x="431292" y="356616"/>
                  </a:lnTo>
                  <a:lnTo>
                    <a:pt x="0" y="35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85" b="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00612" y="5241950"/>
            <a:ext cx="214312" cy="285750"/>
            <a:chOff x="0" y="0"/>
            <a:chExt cx="285750" cy="3810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1586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900612" y="7110708"/>
            <a:ext cx="214312" cy="285750"/>
            <a:chOff x="0" y="0"/>
            <a:chExt cx="285750" cy="3810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1586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252843" y="3287458"/>
            <a:ext cx="6846713" cy="357188"/>
            <a:chOff x="0" y="0"/>
            <a:chExt cx="9128950" cy="476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28952" cy="476250"/>
            </a:xfrm>
            <a:custGeom>
              <a:avLst/>
              <a:gdLst/>
              <a:ahLst/>
              <a:cxnLst/>
              <a:rect r="r" b="b" t="t" l="l"/>
              <a:pathLst>
                <a:path h="476250" w="9128952">
                  <a:moveTo>
                    <a:pt x="0" y="0"/>
                  </a:moveTo>
                  <a:lnTo>
                    <a:pt x="9128952" y="0"/>
                  </a:lnTo>
                  <a:lnTo>
                    <a:pt x="9128952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323497" r="0" b="-32349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12895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Spatial Geometry Mapping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786938" y="3692271"/>
            <a:ext cx="6986588" cy="108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CNN encoder directly processes camera frames to understand scene layout. This acts as a secondary layer of protection against highly reflective or transparent objects that confuse traditional LiDAR scanners.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181406" y="6433614"/>
            <a:ext cx="6921722" cy="357188"/>
            <a:chOff x="0" y="0"/>
            <a:chExt cx="9228963" cy="476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28964" cy="476250"/>
            </a:xfrm>
            <a:custGeom>
              <a:avLst/>
              <a:gdLst/>
              <a:ahLst/>
              <a:cxnLst/>
              <a:rect r="r" b="b" t="t" l="l"/>
              <a:pathLst>
                <a:path h="476250" w="9228964">
                  <a:moveTo>
                    <a:pt x="0" y="0"/>
                  </a:moveTo>
                  <a:lnTo>
                    <a:pt x="9228964" y="0"/>
                  </a:lnTo>
                  <a:lnTo>
                    <a:pt x="9228964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327588" r="0" b="-32758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9228963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Key Spatial Signals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500312" y="3997071"/>
            <a:ext cx="6105763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Input Frame Acquisition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500312" y="4230434"/>
            <a:ext cx="5815012" cy="42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Reads raw image matrices via /depth/image_raw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500312" y="5880125"/>
            <a:ext cx="6105763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CNN Feature Backbone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00312" y="6113488"/>
            <a:ext cx="5815012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Processes structural patterns, edges, and objects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500312" y="7748883"/>
            <a:ext cx="6105763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Feature Map Projection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00312" y="7982245"/>
            <a:ext cx="5815012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Outputs compressed </a:t>
            </a:r>
            <a:r>
              <a:rPr lang="en-US" b="true" sz="1462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64-Dimensional Depth Features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786938" y="3323187"/>
            <a:ext cx="323031" cy="285750"/>
            <a:chOff x="0" y="0"/>
            <a:chExt cx="430708" cy="3810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430657" cy="381000"/>
            </a:xfrm>
            <a:custGeom>
              <a:avLst/>
              <a:gdLst/>
              <a:ahLst/>
              <a:cxnLst/>
              <a:rect r="r" b="b" t="t" l="l"/>
              <a:pathLst>
                <a:path h="381000" w="430657">
                  <a:moveTo>
                    <a:pt x="0" y="0"/>
                  </a:moveTo>
                  <a:lnTo>
                    <a:pt x="430657" y="0"/>
                  </a:lnTo>
                  <a:lnTo>
                    <a:pt x="43065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11" b="-321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86938" y="6469332"/>
            <a:ext cx="251593" cy="285750"/>
            <a:chOff x="0" y="0"/>
            <a:chExt cx="335458" cy="3810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335407" cy="381000"/>
            </a:xfrm>
            <a:custGeom>
              <a:avLst/>
              <a:gdLst/>
              <a:ahLst/>
              <a:cxnLst/>
              <a:rect r="r" b="b" t="t" l="l"/>
              <a:pathLst>
                <a:path h="381000" w="335407">
                  <a:moveTo>
                    <a:pt x="0" y="0"/>
                  </a:moveTo>
                  <a:lnTo>
                    <a:pt x="335407" y="0"/>
                  </a:lnTo>
                  <a:lnTo>
                    <a:pt x="3354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15" b="-2719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301288" y="6838426"/>
            <a:ext cx="64722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Captures near-obstacle 3D geometries.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301288" y="7324201"/>
            <a:ext cx="64722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Formulates pixel-to-obstacle distance metrics.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301288" y="7809976"/>
            <a:ext cx="64722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Provides structural context for narrow hallways.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786938" y="6997970"/>
            <a:ext cx="257175" cy="271462"/>
            <a:chOff x="0" y="0"/>
            <a:chExt cx="342900" cy="36195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786938" y="7483745"/>
            <a:ext cx="257175" cy="271462"/>
            <a:chOff x="0" y="0"/>
            <a:chExt cx="342900" cy="36195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786938" y="7969520"/>
            <a:ext cx="257175" cy="271462"/>
            <a:chOff x="0" y="0"/>
            <a:chExt cx="342900" cy="361950"/>
          </a:xfrm>
        </p:grpSpPr>
        <p:sp>
          <p:nvSpPr>
            <p:cNvPr name="Freeform 58" id="58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57288" y="871538"/>
            <a:ext cx="15973425" cy="214312"/>
            <a:chOff x="0" y="0"/>
            <a:chExt cx="21297900" cy="2857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2979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1402284" r="0" b="-140228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1297900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46E5"/>
                  </a:solidFill>
                  <a:latin typeface="Arimo"/>
                  <a:ea typeface="Arimo"/>
                  <a:cs typeface="Arimo"/>
                  <a:sym typeface="Arimo"/>
                </a:rPr>
                <a:t>PROCESSING PIPELINES DEPTH IMAGE PROCESSING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Depth Camera Processing Pipeline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3218926"/>
            <a:ext cx="7629525" cy="5429250"/>
            <a:chOff x="0" y="0"/>
            <a:chExt cx="10172700" cy="7239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1727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1188" y="3218926"/>
            <a:ext cx="7629525" cy="5429250"/>
            <a:chOff x="0" y="0"/>
            <a:chExt cx="10172700" cy="7239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1727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7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4475" y="5847607"/>
            <a:ext cx="6915150" cy="1185862"/>
            <a:chOff x="0" y="0"/>
            <a:chExt cx="9220200" cy="15811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2202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9220200">
                  <a:moveTo>
                    <a:pt x="0" y="0"/>
                  </a:moveTo>
                  <a:lnTo>
                    <a:pt x="9220200" y="0"/>
                  </a:lnTo>
                  <a:lnTo>
                    <a:pt x="9220200" y="1581150"/>
                  </a:lnTo>
                  <a:lnTo>
                    <a:pt x="0" y="1581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58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58375" y="5847607"/>
            <a:ext cx="6915150" cy="1185862"/>
            <a:chOff x="0" y="0"/>
            <a:chExt cx="9220200" cy="15811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92202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9220200">
                  <a:moveTo>
                    <a:pt x="0" y="0"/>
                  </a:moveTo>
                  <a:lnTo>
                    <a:pt x="9220200" y="0"/>
                  </a:lnTo>
                  <a:lnTo>
                    <a:pt x="9220200" y="1581150"/>
                  </a:lnTo>
                  <a:lnTo>
                    <a:pt x="0" y="1581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58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78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87788" y="9610725"/>
            <a:ext cx="5429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8300" y="7879328"/>
            <a:ext cx="6791325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Tracks continuous, high-frequency orientation trends.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82200" y="7879328"/>
            <a:ext cx="6791325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Prevents cumulative odometry drift errors over run-times.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937518" y="3576114"/>
            <a:ext cx="6816709" cy="357188"/>
            <a:chOff x="0" y="0"/>
            <a:chExt cx="9088946" cy="476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88948" cy="476250"/>
            </a:xfrm>
            <a:custGeom>
              <a:avLst/>
              <a:gdLst/>
              <a:ahLst/>
              <a:cxnLst/>
              <a:rect r="r" b="b" t="t" l="l"/>
              <a:pathLst>
                <a:path h="476250" w="9088948">
                  <a:moveTo>
                    <a:pt x="0" y="0"/>
                  </a:moveTo>
                  <a:lnTo>
                    <a:pt x="9088948" y="0"/>
                  </a:lnTo>
                  <a:lnTo>
                    <a:pt x="9088948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1860" r="0" b="-3218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08894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IMU Encoder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14475" y="3980926"/>
            <a:ext cx="6915150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Handles linear acceleration, angular velocity, and inertial heading variations to prevent slide slip.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14475" y="8050778"/>
            <a:ext cx="185738" cy="185738"/>
            <a:chOff x="0" y="0"/>
            <a:chExt cx="247650" cy="2476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769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81418" y="3576114"/>
            <a:ext cx="6816709" cy="357188"/>
            <a:chOff x="0" y="0"/>
            <a:chExt cx="9088946" cy="476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088948" cy="476250"/>
            </a:xfrm>
            <a:custGeom>
              <a:avLst/>
              <a:gdLst/>
              <a:ahLst/>
              <a:cxnLst/>
              <a:rect r="r" b="b" t="t" l="l"/>
              <a:pathLst>
                <a:path h="476250" w="9088948">
                  <a:moveTo>
                    <a:pt x="0" y="0"/>
                  </a:moveTo>
                  <a:lnTo>
                    <a:pt x="9088948" y="0"/>
                  </a:lnTo>
                  <a:lnTo>
                    <a:pt x="9088948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1860" r="0" b="-3218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08894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0B98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Wheel Encoder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858375" y="3980926"/>
            <a:ext cx="6915150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Collects continuous speed steps via joint state subscriptions to record real robot speed commands.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58375" y="8050778"/>
            <a:ext cx="185738" cy="185738"/>
            <a:chOff x="0" y="0"/>
            <a:chExt cx="247650" cy="2476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769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14475" y="3611832"/>
            <a:ext cx="280168" cy="285750"/>
            <a:chOff x="0" y="0"/>
            <a:chExt cx="373558" cy="3810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3" b="-295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858375" y="3611832"/>
            <a:ext cx="280168" cy="285750"/>
            <a:chOff x="0" y="0"/>
            <a:chExt cx="373558" cy="3810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3" b="-295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57288" y="871538"/>
            <a:ext cx="15973425" cy="214312"/>
            <a:chOff x="0" y="0"/>
            <a:chExt cx="21297900" cy="2857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2979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02284" r="0" b="-140228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21297900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46E5"/>
                  </a:solidFill>
                  <a:latin typeface="Arimo"/>
                  <a:ea typeface="Arimo"/>
                  <a:cs typeface="Arimo"/>
                  <a:sym typeface="Arimo"/>
                </a:rPr>
                <a:t>PROCESSING PIPELINES KINEMATICS &amp; INERTIAL NAVIGATION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Kinematic Pipelines: IMU &amp; Wheel Encoder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3309118"/>
            <a:ext cx="15973425" cy="1617164"/>
            <a:chOff x="0" y="0"/>
            <a:chExt cx="21297900" cy="2156219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297900" cy="2156206"/>
            </a:xfrm>
            <a:custGeom>
              <a:avLst/>
              <a:gdLst/>
              <a:ahLst/>
              <a:cxnLst/>
              <a:rect r="r" b="b" t="t" l="l"/>
              <a:pathLst>
                <a:path h="2156206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156206"/>
                  </a:lnTo>
                  <a:lnTo>
                    <a:pt x="0" y="2156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5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7288" y="5354907"/>
            <a:ext cx="7700962" cy="3202857"/>
            <a:chOff x="0" y="0"/>
            <a:chExt cx="10267950" cy="427047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267950" cy="4270502"/>
            </a:xfrm>
            <a:custGeom>
              <a:avLst/>
              <a:gdLst/>
              <a:ahLst/>
              <a:cxnLst/>
              <a:rect r="r" b="b" t="t" l="l"/>
              <a:pathLst>
                <a:path h="4270502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4270502"/>
                  </a:lnTo>
                  <a:lnTo>
                    <a:pt x="0" y="427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8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29712" y="5354907"/>
            <a:ext cx="7700962" cy="3202857"/>
            <a:chOff x="0" y="0"/>
            <a:chExt cx="10267950" cy="427047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267950" cy="4270502"/>
            </a:xfrm>
            <a:custGeom>
              <a:avLst/>
              <a:gdLst/>
              <a:ahLst/>
              <a:cxnLst/>
              <a:rect r="r" b="b" t="t" l="l"/>
              <a:pathLst>
                <a:path h="4270502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4270502"/>
                  </a:lnTo>
                  <a:lnTo>
                    <a:pt x="0" y="427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8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57325" y="3609156"/>
            <a:ext cx="3436144" cy="628650"/>
            <a:chOff x="0" y="0"/>
            <a:chExt cx="4581525" cy="8382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581525" cy="838200"/>
            </a:xfrm>
            <a:custGeom>
              <a:avLst/>
              <a:gdLst/>
              <a:ahLst/>
              <a:cxnLst/>
              <a:rect r="r" b="b" t="t" l="l"/>
              <a:pathLst>
                <a:path h="838200" w="4581525">
                  <a:moveTo>
                    <a:pt x="0" y="0"/>
                  </a:moveTo>
                  <a:lnTo>
                    <a:pt x="4581525" y="0"/>
                  </a:lnTo>
                  <a:lnTo>
                    <a:pt x="4581525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63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436394" y="3609156"/>
            <a:ext cx="3436144" cy="628650"/>
            <a:chOff x="0" y="0"/>
            <a:chExt cx="4581525" cy="838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581525" cy="838200"/>
            </a:xfrm>
            <a:custGeom>
              <a:avLst/>
              <a:gdLst/>
              <a:ahLst/>
              <a:cxnLst/>
              <a:rect r="r" b="b" t="t" l="l"/>
              <a:pathLst>
                <a:path h="838200" w="4581525">
                  <a:moveTo>
                    <a:pt x="0" y="0"/>
                  </a:moveTo>
                  <a:lnTo>
                    <a:pt x="4581525" y="0"/>
                  </a:lnTo>
                  <a:lnTo>
                    <a:pt x="4581525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63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15462" y="3609156"/>
            <a:ext cx="3436144" cy="628650"/>
            <a:chOff x="0" y="0"/>
            <a:chExt cx="4581525" cy="8382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581525" cy="838200"/>
            </a:xfrm>
            <a:custGeom>
              <a:avLst/>
              <a:gdLst/>
              <a:ahLst/>
              <a:cxnLst/>
              <a:rect r="r" b="b" t="t" l="l"/>
              <a:pathLst>
                <a:path h="838200" w="4581525">
                  <a:moveTo>
                    <a:pt x="0" y="0"/>
                  </a:moveTo>
                  <a:lnTo>
                    <a:pt x="4581525" y="0"/>
                  </a:lnTo>
                  <a:lnTo>
                    <a:pt x="4581525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163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94531" y="3609156"/>
            <a:ext cx="3436144" cy="628650"/>
            <a:chOff x="0" y="0"/>
            <a:chExt cx="4581525" cy="8382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581525" cy="838200"/>
            </a:xfrm>
            <a:custGeom>
              <a:avLst/>
              <a:gdLst/>
              <a:ahLst/>
              <a:cxnLst/>
              <a:rect r="r" b="b" t="t" l="l"/>
              <a:pathLst>
                <a:path h="838200" w="4581525">
                  <a:moveTo>
                    <a:pt x="0" y="0"/>
                  </a:moveTo>
                  <a:lnTo>
                    <a:pt x="4581525" y="0"/>
                  </a:lnTo>
                  <a:lnTo>
                    <a:pt x="4581525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163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14475" y="7371902"/>
            <a:ext cx="6986588" cy="828675"/>
            <a:chOff x="0" y="0"/>
            <a:chExt cx="9315450" cy="11049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93154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315450">
                  <a:moveTo>
                    <a:pt x="0" y="0"/>
                  </a:moveTo>
                  <a:lnTo>
                    <a:pt x="9315450" y="0"/>
                  </a:lnTo>
                  <a:lnTo>
                    <a:pt x="931545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10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78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87788" y="9610725"/>
            <a:ext cx="5429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" y="4247331"/>
            <a:ext cx="3436144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PointNet++ Output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36344" y="3996261"/>
            <a:ext cx="257175" cy="285750"/>
            <a:chOff x="0" y="0"/>
            <a:chExt cx="342900" cy="381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529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5436394" y="4247331"/>
            <a:ext cx="3436144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CNN Output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015412" y="3996261"/>
            <a:ext cx="257175" cy="285750"/>
            <a:chOff x="0" y="0"/>
            <a:chExt cx="342900" cy="381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-500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415462" y="4247331"/>
            <a:ext cx="3436144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MLP + Upscale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994481" y="3996261"/>
            <a:ext cx="257175" cy="285750"/>
            <a:chOff x="0" y="0"/>
            <a:chExt cx="342900" cy="3810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529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394531" y="4247331"/>
            <a:ext cx="3436144" cy="37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MLP + Upscale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866081" y="5712095"/>
            <a:ext cx="6966728" cy="357188"/>
            <a:chOff x="0" y="0"/>
            <a:chExt cx="9288970" cy="4762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288972" cy="476250"/>
            </a:xfrm>
            <a:custGeom>
              <a:avLst/>
              <a:gdLst/>
              <a:ahLst/>
              <a:cxnLst/>
              <a:rect r="r" b="b" t="t" l="l"/>
              <a:pathLst>
                <a:path h="476250" w="9288972">
                  <a:moveTo>
                    <a:pt x="0" y="0"/>
                  </a:moveTo>
                  <a:lnTo>
                    <a:pt x="9288972" y="0"/>
                  </a:lnTo>
                  <a:lnTo>
                    <a:pt x="9288972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330043" r="0" b="-33004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28897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Dimension Expansion &amp; Linear Steps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514475" y="6116907"/>
            <a:ext cx="6986588" cy="108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Kinematic vectors (IMU &amp; Wheel) are upscaled using dense linear layers from 32D to 64D before concatenation to align temporal influence across sensory modes.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209981" y="5712095"/>
            <a:ext cx="6891718" cy="357188"/>
            <a:chOff x="0" y="0"/>
            <a:chExt cx="9188958" cy="476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88960" cy="476250"/>
            </a:xfrm>
            <a:custGeom>
              <a:avLst/>
              <a:gdLst/>
              <a:ahLst/>
              <a:cxnLst/>
              <a:rect r="r" b="b" t="t" l="l"/>
              <a:pathLst>
                <a:path h="476250" w="9188960">
                  <a:moveTo>
                    <a:pt x="0" y="0"/>
                  </a:moveTo>
                  <a:lnTo>
                    <a:pt x="9188960" y="0"/>
                  </a:lnTo>
                  <a:lnTo>
                    <a:pt x="918896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325952" r="0" b="-3259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918895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Unified Output Projection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786938" y="6107382"/>
            <a:ext cx="698658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Outputs a clean, rich 128-Dimensional Fused Feature vector.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786938" y="6612207"/>
            <a:ext cx="6986588" cy="70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This compressed space encapsulates raw spatial maps, structural features, and kinematic states into a unified, high-density observation vector.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514475" y="5747814"/>
            <a:ext cx="208731" cy="285750"/>
            <a:chOff x="0" y="0"/>
            <a:chExt cx="278308" cy="3810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78257" cy="381000"/>
            </a:xfrm>
            <a:custGeom>
              <a:avLst/>
              <a:gdLst/>
              <a:ahLst/>
              <a:cxnLst/>
              <a:rect r="r" b="b" t="t" l="l"/>
              <a:pathLst>
                <a:path h="381000" w="278257">
                  <a:moveTo>
                    <a:pt x="0" y="0"/>
                  </a:moveTo>
                  <a:lnTo>
                    <a:pt x="278257" y="0"/>
                  </a:lnTo>
                  <a:lnTo>
                    <a:pt x="27825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8" b="-226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786938" y="5747814"/>
            <a:ext cx="280168" cy="285750"/>
            <a:chOff x="0" y="0"/>
            <a:chExt cx="373558" cy="3810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13" b="-295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57288" y="871538"/>
            <a:ext cx="15973425" cy="214312"/>
            <a:chOff x="0" y="0"/>
            <a:chExt cx="21297900" cy="2857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2979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1402284" r="0" b="-140228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1297900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46E5"/>
                  </a:solidFill>
                  <a:latin typeface="Arimo"/>
                  <a:ea typeface="Arimo"/>
                  <a:cs typeface="Arimo"/>
                  <a:sym typeface="Arimo"/>
                </a:rPr>
                <a:t>ARCHITECTURE LAYOUT MULTI-MODAL ATTENTION FUSION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Multi-Modal Sensor Fusion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3471862"/>
            <a:ext cx="7700962" cy="4923158"/>
            <a:chOff x="0" y="0"/>
            <a:chExt cx="10267950" cy="656421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267950" cy="6564249"/>
            </a:xfrm>
            <a:custGeom>
              <a:avLst/>
              <a:gdLst/>
              <a:ahLst/>
              <a:cxnLst/>
              <a:rect r="r" b="b" t="t" l="l"/>
              <a:pathLst>
                <a:path h="6564249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6564249"/>
                  </a:lnTo>
                  <a:lnTo>
                    <a:pt x="0" y="6564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0" y="3471862"/>
            <a:ext cx="7700962" cy="1111520"/>
            <a:chOff x="0" y="0"/>
            <a:chExt cx="10267950" cy="148202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267950" cy="1482090"/>
            </a:xfrm>
            <a:custGeom>
              <a:avLst/>
              <a:gdLst/>
              <a:ahLst/>
              <a:cxnLst/>
              <a:rect r="r" b="b" t="t" l="l"/>
              <a:pathLst>
                <a:path h="148209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482090"/>
                  </a:lnTo>
                  <a:lnTo>
                    <a:pt x="0" y="1482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7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29750" y="4754832"/>
            <a:ext cx="7700962" cy="1408662"/>
            <a:chOff x="0" y="0"/>
            <a:chExt cx="10267950" cy="187821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267950" cy="1878203"/>
            </a:xfrm>
            <a:custGeom>
              <a:avLst/>
              <a:gdLst/>
              <a:ahLst/>
              <a:cxnLst/>
              <a:rect r="r" b="b" t="t" l="l"/>
              <a:pathLst>
                <a:path h="1878203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878203"/>
                  </a:lnTo>
                  <a:lnTo>
                    <a:pt x="0" y="1878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23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9750" y="6334944"/>
            <a:ext cx="7700962" cy="1111520"/>
            <a:chOff x="0" y="0"/>
            <a:chExt cx="10267950" cy="1482026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267950" cy="1482090"/>
            </a:xfrm>
            <a:custGeom>
              <a:avLst/>
              <a:gdLst/>
              <a:ahLst/>
              <a:cxnLst/>
              <a:rect r="r" b="b" t="t" l="l"/>
              <a:pathLst>
                <a:path h="1482090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482090"/>
                  </a:lnTo>
                  <a:lnTo>
                    <a:pt x="0" y="1482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35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29750" y="7617914"/>
            <a:ext cx="7700962" cy="777107"/>
            <a:chOff x="0" y="0"/>
            <a:chExt cx="10267950" cy="1036142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267950" cy="1036193"/>
            </a:xfrm>
            <a:custGeom>
              <a:avLst/>
              <a:gdLst/>
              <a:ahLst/>
              <a:cxnLst/>
              <a:rect r="r" b="b" t="t" l="l"/>
              <a:pathLst>
                <a:path h="1036193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1036193"/>
                  </a:lnTo>
                  <a:lnTo>
                    <a:pt x="0" y="1036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9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7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73500" y="9610725"/>
            <a:ext cx="55721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8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71575" y="3486150"/>
            <a:ext cx="7672388" cy="4894583"/>
            <a:chOff x="0" y="0"/>
            <a:chExt cx="10229850" cy="6526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29850" cy="6526149"/>
            </a:xfrm>
            <a:custGeom>
              <a:avLst/>
              <a:gdLst/>
              <a:ahLst/>
              <a:cxnLst/>
              <a:rect r="r" b="b" t="t" l="l"/>
              <a:pathLst>
                <a:path h="6526149" w="10229850">
                  <a:moveTo>
                    <a:pt x="0" y="0"/>
                  </a:moveTo>
                  <a:lnTo>
                    <a:pt x="10229850" y="0"/>
                  </a:lnTo>
                  <a:lnTo>
                    <a:pt x="10229850" y="6526149"/>
                  </a:lnTo>
                  <a:lnTo>
                    <a:pt x="0" y="6526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4211" r="0" b="-1421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72638" y="3770338"/>
            <a:ext cx="514350" cy="514350"/>
            <a:chOff x="0" y="0"/>
            <a:chExt cx="68580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77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72638" y="5201984"/>
            <a:ext cx="514350" cy="514350"/>
            <a:chOff x="0" y="0"/>
            <a:chExt cx="6858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277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72638" y="6633420"/>
            <a:ext cx="514350" cy="514350"/>
            <a:chOff x="0" y="0"/>
            <a:chExt cx="68580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2777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06000" y="7722689"/>
            <a:ext cx="6996112" cy="44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b="true" sz="1575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Pipeline Output: Compressed 30-Dimensional Human Feature Matrix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01225" y="3927500"/>
            <a:ext cx="257175" cy="200025"/>
            <a:chOff x="0" y="0"/>
            <a:chExt cx="342900" cy="2667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42900" cy="266700"/>
            </a:xfrm>
            <a:custGeom>
              <a:avLst/>
              <a:gdLst/>
              <a:ahLst/>
              <a:cxnLst/>
              <a:rect r="r" b="b" t="t" l="l"/>
              <a:pathLst>
                <a:path h="2667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-7142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472738" y="3695700"/>
            <a:ext cx="673584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Human Detection Layer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2738" y="3929062"/>
            <a:ext cx="6415088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Segment camera frames &amp; scans to isolate pedestrians.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29800" y="5359146"/>
            <a:ext cx="200025" cy="200025"/>
            <a:chOff x="0" y="0"/>
            <a:chExt cx="266700" cy="2667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714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472738" y="4978670"/>
            <a:ext cx="673584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Dynamic Localization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72738" y="5212032"/>
            <a:ext cx="6415088" cy="70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Transforms coordinates into the base robot frame. Calculates Euclidean distance and bearing angle.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29800" y="6790582"/>
            <a:ext cx="200025" cy="200025"/>
            <a:chOff x="0" y="0"/>
            <a:chExt cx="266700" cy="2667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-7142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472738" y="6558782"/>
            <a:ext cx="6735842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Kalman Identification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472738" y="6792144"/>
            <a:ext cx="6415088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Associates targets across sequential frames to maintain track continuity.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58350" y="7917952"/>
            <a:ext cx="257175" cy="200025"/>
            <a:chOff x="0" y="0"/>
            <a:chExt cx="342900" cy="2667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342900" cy="266700"/>
            </a:xfrm>
            <a:custGeom>
              <a:avLst/>
              <a:gdLst/>
              <a:ahLst/>
              <a:cxnLst/>
              <a:rect r="r" b="b" t="t" l="l"/>
              <a:pathLst>
                <a:path h="2667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7142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57288" y="871538"/>
            <a:ext cx="15973425" cy="214312"/>
            <a:chOff x="0" y="0"/>
            <a:chExt cx="21297900" cy="2857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2979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0" t="-1402284" r="0" b="-14022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1297900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46E5"/>
                  </a:solidFill>
                  <a:latin typeface="Arimo"/>
                  <a:ea typeface="Arimo"/>
                  <a:cs typeface="Arimo"/>
                  <a:sym typeface="Arimo"/>
                </a:rPr>
                <a:t>PERCEPTION STACK PEDESTRIAN MONITORING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Human Detection, Localization &amp; Tracking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8252" y="34376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57250"/>
            <a:ext cx="1710213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1E3A8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Kalman Filter State Prediction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7250" y="857250"/>
            <a:ext cx="114300" cy="742950"/>
            <a:chOff x="0" y="0"/>
            <a:chExt cx="152400" cy="990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990600"/>
            </a:xfrm>
            <a:custGeom>
              <a:avLst/>
              <a:gdLst/>
              <a:ahLst/>
              <a:cxnLst/>
              <a:rect r="r" b="b" t="t" l="l"/>
              <a:pathLst>
                <a:path h="990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1CAA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57250" y="3316634"/>
            <a:ext cx="78581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State Vector: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5540797"/>
            <a:ext cx="78581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Transition Matrix: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50656" y="3207391"/>
            <a:ext cx="825103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106">
                <a:solidFill>
                  <a:srgbClr val="1A365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Future Prediction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50656" y="3915928"/>
            <a:ext cx="78581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Predicting position at time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78558" y="6498060"/>
            <a:ext cx="78581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Used to generate safe navigation buffers around humans.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57288" y="4674022"/>
            <a:ext cx="2175491" cy="300038"/>
            <a:chOff x="0" y="0"/>
            <a:chExt cx="2900655" cy="400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900680" cy="400050"/>
            </a:xfrm>
            <a:custGeom>
              <a:avLst/>
              <a:gdLst/>
              <a:ahLst/>
              <a:cxnLst/>
              <a:rect r="r" b="b" t="t" l="l"/>
              <a:pathLst>
                <a:path h="400050" w="2900680">
                  <a:moveTo>
                    <a:pt x="0" y="0"/>
                  </a:moveTo>
                  <a:lnTo>
                    <a:pt x="2900680" y="0"/>
                  </a:lnTo>
                  <a:lnTo>
                    <a:pt x="290068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2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57288" y="6888585"/>
            <a:ext cx="1697984" cy="1076916"/>
            <a:chOff x="0" y="0"/>
            <a:chExt cx="2263978" cy="1435887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64029" cy="1435862"/>
            </a:xfrm>
            <a:custGeom>
              <a:avLst/>
              <a:gdLst/>
              <a:ahLst/>
              <a:cxnLst/>
              <a:rect r="r" b="b" t="t" l="l"/>
              <a:pathLst>
                <a:path h="1435862" w="2264029">
                  <a:moveTo>
                    <a:pt x="0" y="0"/>
                  </a:moveTo>
                  <a:lnTo>
                    <a:pt x="2264029" y="0"/>
                  </a:lnTo>
                  <a:lnTo>
                    <a:pt x="2264029" y="1435862"/>
                  </a:lnTo>
                  <a:lnTo>
                    <a:pt x="0" y="1435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69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158788" y="4617091"/>
            <a:ext cx="79477" cy="171450"/>
            <a:chOff x="0" y="0"/>
            <a:chExt cx="105969" cy="2286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05918" cy="228600"/>
            </a:xfrm>
            <a:custGeom>
              <a:avLst/>
              <a:gdLst/>
              <a:ahLst/>
              <a:cxnLst/>
              <a:rect r="r" b="b" t="t" l="l"/>
              <a:pathLst>
                <a:path h="228600" w="105918">
                  <a:moveTo>
                    <a:pt x="0" y="0"/>
                  </a:moveTo>
                  <a:lnTo>
                    <a:pt x="105918" y="0"/>
                  </a:lnTo>
                  <a:lnTo>
                    <a:pt x="105918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47" b="-43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628151" y="4876390"/>
            <a:ext cx="1139428" cy="195339"/>
            <a:chOff x="0" y="0"/>
            <a:chExt cx="1519238" cy="260452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519174" cy="260477"/>
            </a:xfrm>
            <a:custGeom>
              <a:avLst/>
              <a:gdLst/>
              <a:ahLst/>
              <a:cxnLst/>
              <a:rect r="r" b="b" t="t" l="l"/>
              <a:pathLst>
                <a:path h="260477" w="1519174">
                  <a:moveTo>
                    <a:pt x="0" y="0"/>
                  </a:moveTo>
                  <a:lnTo>
                    <a:pt x="1519174" y="0"/>
                  </a:lnTo>
                  <a:lnTo>
                    <a:pt x="1519174" y="260477"/>
                  </a:lnTo>
                  <a:lnTo>
                    <a:pt x="0" y="26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206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716578" y="5260981"/>
            <a:ext cx="1139428" cy="252489"/>
            <a:chOff x="0" y="0"/>
            <a:chExt cx="1519238" cy="336652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519174" cy="336677"/>
            </a:xfrm>
            <a:custGeom>
              <a:avLst/>
              <a:gdLst/>
              <a:ahLst/>
              <a:cxnLst/>
              <a:rect r="r" b="b" t="t" l="l"/>
              <a:pathLst>
                <a:path h="336677" w="1519174">
                  <a:moveTo>
                    <a:pt x="0" y="0"/>
                  </a:moveTo>
                  <a:lnTo>
                    <a:pt x="1519174" y="0"/>
                  </a:lnTo>
                  <a:lnTo>
                    <a:pt x="1519174" y="336677"/>
                  </a:lnTo>
                  <a:lnTo>
                    <a:pt x="0" y="336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-153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92955" y="2815752"/>
            <a:ext cx="7700962" cy="3438601"/>
            <a:chOff x="0" y="0"/>
            <a:chExt cx="10267950" cy="4584802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0267950" cy="4584827"/>
            </a:xfrm>
            <a:custGeom>
              <a:avLst/>
              <a:gdLst/>
              <a:ahLst/>
              <a:cxnLst/>
              <a:rect r="r" b="b" t="t" l="l"/>
              <a:pathLst>
                <a:path h="4584827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4584827"/>
                  </a:lnTo>
                  <a:lnTo>
                    <a:pt x="0" y="4584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36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272712" y="3474168"/>
            <a:ext cx="6986588" cy="108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system maintains active tracking estimates during occlusions, preventing the robot from 'forgetting' pedestrians when they step briefly behind nurse desks or visual blockages.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700794" y="3024035"/>
            <a:ext cx="6891718" cy="357188"/>
            <a:chOff x="0" y="0"/>
            <a:chExt cx="9188958" cy="476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88960" cy="476250"/>
            </a:xfrm>
            <a:custGeom>
              <a:avLst/>
              <a:gdLst/>
              <a:ahLst/>
              <a:cxnLst/>
              <a:rect r="r" b="b" t="t" l="l"/>
              <a:pathLst>
                <a:path h="476250" w="9188960">
                  <a:moveTo>
                    <a:pt x="0" y="0"/>
                  </a:moveTo>
                  <a:lnTo>
                    <a:pt x="9188960" y="0"/>
                  </a:lnTo>
                  <a:lnTo>
                    <a:pt x="918896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25952" r="0" b="-3259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9188958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Robust Tracking Benefits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72712" y="3095473"/>
            <a:ext cx="306017" cy="285750"/>
            <a:chOff x="0" y="0"/>
            <a:chExt cx="408023" cy="381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07968" cy="381000"/>
            </a:xfrm>
            <a:custGeom>
              <a:avLst/>
              <a:gdLst/>
              <a:ahLst/>
              <a:cxnLst/>
              <a:rect r="r" b="b" t="t" l="l"/>
              <a:pathLst>
                <a:path h="381000" w="407968">
                  <a:moveTo>
                    <a:pt x="0" y="0"/>
                  </a:moveTo>
                  <a:lnTo>
                    <a:pt x="407968" y="0"/>
                  </a:lnTo>
                  <a:lnTo>
                    <a:pt x="40796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13" r="-13" b="-7835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707317" y="4607566"/>
            <a:ext cx="64722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Smoothes raw sensor noise and coordinate jitter.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87062" y="5013369"/>
            <a:ext cx="64722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Prevents navigation policy breakdown.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87062" y="5557466"/>
            <a:ext cx="6472238" cy="37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Sustains pedestrian IDs across frames.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321555" y="5659860"/>
            <a:ext cx="257175" cy="271462"/>
            <a:chOff x="0" y="0"/>
            <a:chExt cx="342900" cy="36195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321555" y="5143500"/>
            <a:ext cx="257175" cy="271462"/>
            <a:chOff x="0" y="0"/>
            <a:chExt cx="342900" cy="3619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272712" y="4702816"/>
            <a:ext cx="257175" cy="271462"/>
            <a:chOff x="0" y="0"/>
            <a:chExt cx="342900" cy="36195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27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7" y="2078160"/>
            <a:ext cx="5095723" cy="3325863"/>
            <a:chOff x="0" y="0"/>
            <a:chExt cx="6794297" cy="443448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794246" cy="4434459"/>
            </a:xfrm>
            <a:custGeom>
              <a:avLst/>
              <a:gdLst/>
              <a:ahLst/>
              <a:cxnLst/>
              <a:rect r="r" b="b" t="t" l="l"/>
              <a:pathLst>
                <a:path h="4434459" w="6794246">
                  <a:moveTo>
                    <a:pt x="0" y="0"/>
                  </a:moveTo>
                  <a:lnTo>
                    <a:pt x="6794246" y="0"/>
                  </a:lnTo>
                  <a:lnTo>
                    <a:pt x="6794246" y="4434459"/>
                  </a:lnTo>
                  <a:lnTo>
                    <a:pt x="0" y="4434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4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38760" y="2023024"/>
            <a:ext cx="5095951" cy="3325863"/>
            <a:chOff x="0" y="0"/>
            <a:chExt cx="6794602" cy="443448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794627" cy="4434459"/>
            </a:xfrm>
            <a:custGeom>
              <a:avLst/>
              <a:gdLst/>
              <a:ahLst/>
              <a:cxnLst/>
              <a:rect r="r" b="b" t="t" l="l"/>
              <a:pathLst>
                <a:path h="4434459" w="6794627">
                  <a:moveTo>
                    <a:pt x="0" y="0"/>
                  </a:moveTo>
                  <a:lnTo>
                    <a:pt x="6794627" y="0"/>
                  </a:lnTo>
                  <a:lnTo>
                    <a:pt x="6794627" y="4434459"/>
                  </a:lnTo>
                  <a:lnTo>
                    <a:pt x="0" y="4434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68136" y="1687706"/>
            <a:ext cx="5095723" cy="3325863"/>
            <a:chOff x="0" y="0"/>
            <a:chExt cx="6794297" cy="443448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94246" cy="4434459"/>
            </a:xfrm>
            <a:custGeom>
              <a:avLst/>
              <a:gdLst/>
              <a:ahLst/>
              <a:cxnLst/>
              <a:rect r="r" b="b" t="t" l="l"/>
              <a:pathLst>
                <a:path h="4434459" w="6794246">
                  <a:moveTo>
                    <a:pt x="0" y="0"/>
                  </a:moveTo>
                  <a:lnTo>
                    <a:pt x="6794246" y="0"/>
                  </a:lnTo>
                  <a:lnTo>
                    <a:pt x="6794246" y="4434459"/>
                  </a:lnTo>
                  <a:lnTo>
                    <a:pt x="0" y="4434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4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7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87775" y="9610725"/>
            <a:ext cx="642938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10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71638" y="2130181"/>
            <a:ext cx="4156224" cy="357188"/>
            <a:chOff x="0" y="0"/>
            <a:chExt cx="5541632" cy="476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41630" cy="476250"/>
            </a:xfrm>
            <a:custGeom>
              <a:avLst/>
              <a:gdLst/>
              <a:ahLst/>
              <a:cxnLst/>
              <a:rect r="r" b="b" t="t" l="l"/>
              <a:pathLst>
                <a:path h="476250" w="5541630">
                  <a:moveTo>
                    <a:pt x="0" y="0"/>
                  </a:moveTo>
                  <a:lnTo>
                    <a:pt x="5541630" y="0"/>
                  </a:lnTo>
                  <a:lnTo>
                    <a:pt x="554163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6727" r="0" b="-17672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541632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Evaluation Inputs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71638" y="2518019"/>
            <a:ext cx="4381348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intention module continuously evaluates key motion properties of pedestrians: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322834" y="2184644"/>
            <a:ext cx="4156453" cy="357188"/>
            <a:chOff x="0" y="0"/>
            <a:chExt cx="5541937" cy="476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41942" cy="476250"/>
            </a:xfrm>
            <a:custGeom>
              <a:avLst/>
              <a:gdLst/>
              <a:ahLst/>
              <a:cxnLst/>
              <a:rect r="r" b="b" t="t" l="l"/>
              <a:pathLst>
                <a:path h="476250" w="5541942">
                  <a:moveTo>
                    <a:pt x="0" y="0"/>
                  </a:moveTo>
                  <a:lnTo>
                    <a:pt x="5541942" y="0"/>
                  </a:lnTo>
                  <a:lnTo>
                    <a:pt x="5541942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6739" r="0" b="-17673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541937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Prediction Targets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895948" y="2706138"/>
            <a:ext cx="4381576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Forecasts behaviors over a short-term future window: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897241" y="2023024"/>
            <a:ext cx="4156224" cy="357188"/>
            <a:chOff x="0" y="0"/>
            <a:chExt cx="5541632" cy="476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41630" cy="476250"/>
            </a:xfrm>
            <a:custGeom>
              <a:avLst/>
              <a:gdLst/>
              <a:ahLst/>
              <a:cxnLst/>
              <a:rect r="r" b="b" t="t" l="l"/>
              <a:pathLst>
                <a:path h="476250" w="5541630">
                  <a:moveTo>
                    <a:pt x="0" y="0"/>
                  </a:moveTo>
                  <a:lnTo>
                    <a:pt x="5541630" y="0"/>
                  </a:lnTo>
                  <a:lnTo>
                    <a:pt x="554163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6727" r="0" b="-17672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541632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0B98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Navigation Safety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495114" y="2600868"/>
            <a:ext cx="4381348" cy="108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Predicting paths reduces proactive collision risks and prevents freezing-robot issues in crowded corridors.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32033" y="4140322"/>
            <a:ext cx="4381348" cy="70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Enables active deceleration or path corrections early.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12888" y="2201618"/>
            <a:ext cx="280168" cy="285750"/>
            <a:chOff x="0" y="0"/>
            <a:chExt cx="373558" cy="381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3" b="-295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960864" y="3310233"/>
            <a:ext cx="38669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Speed &amp; Heading Angle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33588" y="3757908"/>
            <a:ext cx="38669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Trajectory History Logs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33588" y="4299194"/>
            <a:ext cx="38669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Orientation changes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751510" y="2256082"/>
            <a:ext cx="280168" cy="285750"/>
            <a:chOff x="0" y="0"/>
            <a:chExt cx="373558" cy="3810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3" b="-295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467448" y="3507877"/>
            <a:ext cx="386722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Projected path direction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67448" y="3929358"/>
            <a:ext cx="386722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Dynamic velocity trends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67448" y="4434183"/>
            <a:ext cx="386722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Human-Robot space intersection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391949" y="2077488"/>
            <a:ext cx="280168" cy="285750"/>
            <a:chOff x="0" y="0"/>
            <a:chExt cx="373558" cy="381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2006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93056" y="3469777"/>
            <a:ext cx="157162" cy="271462"/>
            <a:chOff x="0" y="0"/>
            <a:chExt cx="209550" cy="3619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09550" cy="361950"/>
            </a:xfrm>
            <a:custGeom>
              <a:avLst/>
              <a:gdLst/>
              <a:ahLst/>
              <a:cxnLst/>
              <a:rect r="r" b="b" t="t" l="l"/>
              <a:pathLst>
                <a:path h="3619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71638" y="3953170"/>
            <a:ext cx="157162" cy="271462"/>
            <a:chOff x="0" y="0"/>
            <a:chExt cx="209550" cy="3619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09550" cy="361950"/>
            </a:xfrm>
            <a:custGeom>
              <a:avLst/>
              <a:gdLst/>
              <a:ahLst/>
              <a:cxnLst/>
              <a:rect r="r" b="b" t="t" l="l"/>
              <a:pathLst>
                <a:path h="3619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33550" y="4458738"/>
            <a:ext cx="157162" cy="271462"/>
            <a:chOff x="0" y="0"/>
            <a:chExt cx="209550" cy="36195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09550" cy="361950"/>
            </a:xfrm>
            <a:custGeom>
              <a:avLst/>
              <a:gdLst/>
              <a:ahLst/>
              <a:cxnLst/>
              <a:rect r="r" b="b" t="t" l="l"/>
              <a:pathLst>
                <a:path h="3619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7031679" y="3667420"/>
            <a:ext cx="157162" cy="271462"/>
            <a:chOff x="0" y="0"/>
            <a:chExt cx="209550" cy="36195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09550" cy="361950"/>
            </a:xfrm>
            <a:custGeom>
              <a:avLst/>
              <a:gdLst/>
              <a:ahLst/>
              <a:cxnLst/>
              <a:rect r="r" b="b" t="t" l="l"/>
              <a:pathLst>
                <a:path h="3619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031679" y="4187276"/>
            <a:ext cx="157162" cy="271462"/>
            <a:chOff x="0" y="0"/>
            <a:chExt cx="209550" cy="36195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209550" cy="361950"/>
            </a:xfrm>
            <a:custGeom>
              <a:avLst/>
              <a:gdLst/>
              <a:ahLst/>
              <a:cxnLst/>
              <a:rect r="r" b="b" t="t" l="l"/>
              <a:pathLst>
                <a:path h="3619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062749" y="4658763"/>
            <a:ext cx="157162" cy="271462"/>
            <a:chOff x="0" y="0"/>
            <a:chExt cx="209550" cy="36195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209550" cy="361950"/>
            </a:xfrm>
            <a:custGeom>
              <a:avLst/>
              <a:gdLst/>
              <a:ahLst/>
              <a:cxnLst/>
              <a:rect r="r" b="b" t="t" l="l"/>
              <a:pathLst>
                <a:path h="3619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52972" y="574319"/>
            <a:ext cx="16547068" cy="651424"/>
            <a:chOff x="0" y="0"/>
            <a:chExt cx="22062758" cy="86856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Human Intention Prediction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21569" y="679094"/>
            <a:ext cx="71438" cy="651424"/>
            <a:chOff x="0" y="0"/>
            <a:chExt cx="95250" cy="86856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04838" y="5933551"/>
            <a:ext cx="5295748" cy="3186112"/>
            <a:chOff x="0" y="0"/>
            <a:chExt cx="7060997" cy="424815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7060946" cy="4248150"/>
            </a:xfrm>
            <a:custGeom>
              <a:avLst/>
              <a:gdLst/>
              <a:ahLst/>
              <a:cxnLst/>
              <a:rect r="r" b="b" t="t" l="l"/>
              <a:pathLst>
                <a:path h="4248150" w="7060946">
                  <a:moveTo>
                    <a:pt x="0" y="0"/>
                  </a:moveTo>
                  <a:lnTo>
                    <a:pt x="7060946" y="0"/>
                  </a:lnTo>
                  <a:lnTo>
                    <a:pt x="7060946" y="4248150"/>
                  </a:lnTo>
                  <a:lnTo>
                    <a:pt x="0" y="424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355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821727" y="6118398"/>
            <a:ext cx="4600413" cy="44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1A365D"/>
                </a:solidFill>
                <a:latin typeface="DM Sans Bold"/>
                <a:ea typeface="DM Sans Bold"/>
                <a:cs typeface="DM Sans Bold"/>
                <a:sym typeface="DM Sans Bold"/>
              </a:rPr>
              <a:t>LEFT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2550495" y="7090691"/>
            <a:ext cx="1199255" cy="214312"/>
            <a:chOff x="0" y="0"/>
            <a:chExt cx="1599006" cy="285750"/>
          </a:xfrm>
        </p:grpSpPr>
        <p:sp>
          <p:nvSpPr>
            <p:cNvPr name="Freeform 60" id="60" descr="image.png"/>
            <p:cNvSpPr/>
            <p:nvPr/>
          </p:nvSpPr>
          <p:spPr>
            <a:xfrm flipH="false" flipV="false" rot="0">
              <a:off x="0" y="0"/>
              <a:ext cx="1599057" cy="285750"/>
            </a:xfrm>
            <a:custGeom>
              <a:avLst/>
              <a:gdLst/>
              <a:ahLst/>
              <a:cxnLst/>
              <a:rect r="r" b="b" t="t" l="l"/>
              <a:pathLst>
                <a:path h="285750" w="1599057">
                  <a:moveTo>
                    <a:pt x="0" y="0"/>
                  </a:moveTo>
                  <a:lnTo>
                    <a:pt x="1599057" y="0"/>
                  </a:lnTo>
                  <a:lnTo>
                    <a:pt x="1599057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3" b="-5333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062038" y="7705018"/>
            <a:ext cx="438134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Predicted path crossing.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6438748" y="6003427"/>
            <a:ext cx="5295976" cy="3186112"/>
            <a:chOff x="0" y="0"/>
            <a:chExt cx="7061302" cy="4248150"/>
          </a:xfrm>
        </p:grpSpPr>
        <p:sp>
          <p:nvSpPr>
            <p:cNvPr name="Freeform 63" id="63" descr="image.png"/>
            <p:cNvSpPr/>
            <p:nvPr/>
          </p:nvSpPr>
          <p:spPr>
            <a:xfrm flipH="false" flipV="false" rot="0">
              <a:off x="0" y="0"/>
              <a:ext cx="7061327" cy="4248150"/>
            </a:xfrm>
            <a:custGeom>
              <a:avLst/>
              <a:gdLst/>
              <a:ahLst/>
              <a:cxnLst/>
              <a:rect r="r" b="b" t="t" l="l"/>
              <a:pathLst>
                <a:path h="424815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4248150"/>
                  </a:lnTo>
                  <a:lnTo>
                    <a:pt x="0" y="424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8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037800" y="6003427"/>
            <a:ext cx="5295976" cy="3186112"/>
            <a:chOff x="0" y="0"/>
            <a:chExt cx="7061302" cy="4248150"/>
          </a:xfrm>
        </p:grpSpPr>
        <p:sp>
          <p:nvSpPr>
            <p:cNvPr name="Freeform 65" id="65" descr="image.png"/>
            <p:cNvSpPr/>
            <p:nvPr/>
          </p:nvSpPr>
          <p:spPr>
            <a:xfrm flipH="false" flipV="false" rot="0">
              <a:off x="0" y="0"/>
              <a:ext cx="7061327" cy="4248150"/>
            </a:xfrm>
            <a:custGeom>
              <a:avLst/>
              <a:gdLst/>
              <a:ahLst/>
              <a:cxnLst/>
              <a:rect r="r" b="b" t="t" l="l"/>
              <a:pathLst>
                <a:path h="4248150" w="7061327">
                  <a:moveTo>
                    <a:pt x="0" y="0"/>
                  </a:moveTo>
                  <a:lnTo>
                    <a:pt x="7061327" y="0"/>
                  </a:lnTo>
                  <a:lnTo>
                    <a:pt x="7061327" y="4248150"/>
                  </a:lnTo>
                  <a:lnTo>
                    <a:pt x="0" y="424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-89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6676873" y="6063263"/>
            <a:ext cx="4600651" cy="44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1A365D"/>
                </a:solidFill>
                <a:latin typeface="DM Sans Bold"/>
                <a:ea typeface="DM Sans Bold"/>
                <a:cs typeface="DM Sans Bold"/>
                <a:sym typeface="DM Sans Bold"/>
              </a:rPr>
              <a:t>RIGHT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273420" y="7043885"/>
            <a:ext cx="1453086" cy="214312"/>
            <a:chOff x="0" y="0"/>
            <a:chExt cx="1937448" cy="285750"/>
          </a:xfrm>
        </p:grpSpPr>
        <p:sp>
          <p:nvSpPr>
            <p:cNvPr name="Freeform 68" id="68" descr="image.png"/>
            <p:cNvSpPr/>
            <p:nvPr/>
          </p:nvSpPr>
          <p:spPr>
            <a:xfrm flipH="false" flipV="false" rot="0">
              <a:off x="0" y="0"/>
              <a:ext cx="1937385" cy="285750"/>
            </a:xfrm>
            <a:custGeom>
              <a:avLst/>
              <a:gdLst/>
              <a:ahLst/>
              <a:cxnLst/>
              <a:rect r="r" b="b" t="t" l="l"/>
              <a:pathLst>
                <a:path h="285750" w="1937385">
                  <a:moveTo>
                    <a:pt x="0" y="0"/>
                  </a:moveTo>
                  <a:lnTo>
                    <a:pt x="1937385" y="0"/>
                  </a:lnTo>
                  <a:lnTo>
                    <a:pt x="1937385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3" b="-6355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7097711" y="7715398"/>
            <a:ext cx="438157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Trajectory adjustment.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672117" y="6063263"/>
            <a:ext cx="4600413" cy="44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1A365D"/>
                </a:solidFill>
                <a:latin typeface="DM Sans Bold"/>
                <a:ea typeface="DM Sans Bold"/>
                <a:cs typeface="DM Sans Bold"/>
                <a:sym typeface="DM Sans Bold"/>
              </a:rPr>
              <a:t>STOP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672117" y="6801450"/>
            <a:ext cx="438134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Speed &lt; 0.05 m/s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672117" y="7715850"/>
            <a:ext cx="438134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Stationary obstacle.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3097482"/>
            <a:ext cx="7629525" cy="5672138"/>
            <a:chOff x="0" y="0"/>
            <a:chExt cx="10172700" cy="7562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172700" cy="7562850"/>
            </a:xfrm>
            <a:custGeom>
              <a:avLst/>
              <a:gdLst/>
              <a:ahLst/>
              <a:cxnLst/>
              <a:rect r="r" b="b" t="t" l="l"/>
              <a:pathLst>
                <a:path h="756285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7562850"/>
                  </a:lnTo>
                  <a:lnTo>
                    <a:pt x="0" y="756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6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1188" y="3433239"/>
            <a:ext cx="7629525" cy="2500312"/>
            <a:chOff x="0" y="0"/>
            <a:chExt cx="10172700" cy="3333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172700" cy="3333750"/>
            </a:xfrm>
            <a:custGeom>
              <a:avLst/>
              <a:gdLst/>
              <a:ahLst/>
              <a:cxnLst/>
              <a:rect r="r" b="b" t="t" l="l"/>
              <a:pathLst>
                <a:path h="333375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3333750"/>
                  </a:lnTo>
                  <a:lnTo>
                    <a:pt x="0" y="333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01188" y="5933551"/>
            <a:ext cx="7629525" cy="2500312"/>
            <a:chOff x="0" y="0"/>
            <a:chExt cx="10172700" cy="3333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172700" cy="3333750"/>
            </a:xfrm>
            <a:custGeom>
              <a:avLst/>
              <a:gdLst/>
              <a:ahLst/>
              <a:cxnLst/>
              <a:rect r="r" b="b" t="t" l="l"/>
              <a:pathLst>
                <a:path h="333375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3333750"/>
                  </a:lnTo>
                  <a:lnTo>
                    <a:pt x="0" y="333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8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7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44925" y="9610725"/>
            <a:ext cx="585788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288" y="2964132"/>
            <a:ext cx="762952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 unified aggregator subscribes to all independent processing modules and concatenates features into a comprehensive state representation vector.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352856" y="3790426"/>
            <a:ext cx="6741700" cy="357188"/>
            <a:chOff x="0" y="0"/>
            <a:chExt cx="8988933" cy="476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88934" cy="476250"/>
            </a:xfrm>
            <a:custGeom>
              <a:avLst/>
              <a:gdLst/>
              <a:ahLst/>
              <a:cxnLst/>
              <a:rect r="r" b="b" t="t" l="l"/>
              <a:pathLst>
                <a:path h="476250" w="8988934">
                  <a:moveTo>
                    <a:pt x="0" y="0"/>
                  </a:moveTo>
                  <a:lnTo>
                    <a:pt x="8988934" y="0"/>
                  </a:lnTo>
                  <a:lnTo>
                    <a:pt x="8988934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7768" r="0" b="-31776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988933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Vector Concatenation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58375" y="4204764"/>
            <a:ext cx="6915150" cy="434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128D + 30D + 2D = 160D Vector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8375" y="4658020"/>
            <a:ext cx="6915150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This combined array constructs a complete environmental, personal, and target space footprint.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52843" y="6290739"/>
            <a:ext cx="6846713" cy="357188"/>
            <a:chOff x="0" y="0"/>
            <a:chExt cx="9128950" cy="476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28952" cy="476250"/>
            </a:xfrm>
            <a:custGeom>
              <a:avLst/>
              <a:gdLst/>
              <a:ahLst/>
              <a:cxnLst/>
              <a:rect r="r" b="b" t="t" l="l"/>
              <a:pathLst>
                <a:path h="476250" w="9128952">
                  <a:moveTo>
                    <a:pt x="0" y="0"/>
                  </a:moveTo>
                  <a:lnTo>
                    <a:pt x="9128952" y="0"/>
                  </a:lnTo>
                  <a:lnTo>
                    <a:pt x="9128952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23497" r="0" b="-3234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12895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ROS2 Output Stream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58375" y="3826145"/>
            <a:ext cx="351606" cy="285750"/>
            <a:chOff x="0" y="0"/>
            <a:chExt cx="468808" cy="3810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468757" cy="381000"/>
            </a:xfrm>
            <a:custGeom>
              <a:avLst/>
              <a:gdLst/>
              <a:ahLst/>
              <a:cxnLst/>
              <a:rect r="r" b="b" t="t" l="l"/>
              <a:pathLst>
                <a:path h="381000" w="468757">
                  <a:moveTo>
                    <a:pt x="0" y="0"/>
                  </a:moveTo>
                  <a:lnTo>
                    <a:pt x="468757" y="0"/>
                  </a:lnTo>
                  <a:lnTo>
                    <a:pt x="46875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0" b="-335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58375" y="6326457"/>
            <a:ext cx="251593" cy="285750"/>
            <a:chOff x="0" y="0"/>
            <a:chExt cx="335458" cy="381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335407" cy="381000"/>
            </a:xfrm>
            <a:custGeom>
              <a:avLst/>
              <a:gdLst/>
              <a:ahLst/>
              <a:cxnLst/>
              <a:rect r="r" b="b" t="t" l="l"/>
              <a:pathLst>
                <a:path h="381000" w="335407">
                  <a:moveTo>
                    <a:pt x="0" y="0"/>
                  </a:moveTo>
                  <a:lnTo>
                    <a:pt x="335407" y="0"/>
                  </a:lnTo>
                  <a:lnTo>
                    <a:pt x="3354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5" b="-2719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372725" y="6695551"/>
            <a:ext cx="6400800" cy="48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Topic Name: /ppo_state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72725" y="7138464"/>
            <a:ext cx="64008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Array Dimension: </a:t>
            </a: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[160, 1]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72725" y="7567089"/>
            <a:ext cx="64008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Update rate: </a:t>
            </a: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20 Hz Sync Cycle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58375" y="6855095"/>
            <a:ext cx="228600" cy="271462"/>
            <a:chOff x="0" y="0"/>
            <a:chExt cx="304800" cy="3619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858375" y="7298007"/>
            <a:ext cx="228600" cy="271462"/>
            <a:chOff x="0" y="0"/>
            <a:chExt cx="304800" cy="3619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58375" y="7726632"/>
            <a:ext cx="228600" cy="271462"/>
            <a:chOff x="0" y="0"/>
            <a:chExt cx="304800" cy="3619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57288" y="871538"/>
            <a:ext cx="15973425" cy="214312"/>
            <a:chOff x="0" y="0"/>
            <a:chExt cx="21297900" cy="2857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2979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02284" r="0" b="-140228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1297900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46E5"/>
                  </a:solidFill>
                  <a:latin typeface="Arimo"/>
                  <a:ea typeface="Arimo"/>
                  <a:cs typeface="Arimo"/>
                  <a:sym typeface="Arimo"/>
                </a:rPr>
                <a:t>DATA ASSEMBLER STATE AGGREGATOR &amp; SPACE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State Aggregator (Total Feature Space)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3770557"/>
            <a:ext cx="7700962" cy="4325988"/>
            <a:chOff x="0" y="0"/>
            <a:chExt cx="10267950" cy="576798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267950" cy="5767959"/>
            </a:xfrm>
            <a:custGeom>
              <a:avLst/>
              <a:gdLst/>
              <a:ahLst/>
              <a:cxnLst/>
              <a:rect r="r" b="b" t="t" l="l"/>
              <a:pathLst>
                <a:path h="5767959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5767959"/>
                  </a:lnTo>
                  <a:lnTo>
                    <a:pt x="0" y="5767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1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0" y="3770557"/>
            <a:ext cx="7700962" cy="4325988"/>
            <a:chOff x="0" y="0"/>
            <a:chExt cx="10267950" cy="576798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267950" cy="5767959"/>
            </a:xfrm>
            <a:custGeom>
              <a:avLst/>
              <a:gdLst/>
              <a:ahLst/>
              <a:cxnLst/>
              <a:rect r="r" b="b" t="t" l="l"/>
              <a:pathLst>
                <a:path h="5767959" w="10267950">
                  <a:moveTo>
                    <a:pt x="0" y="0"/>
                  </a:moveTo>
                  <a:lnTo>
                    <a:pt x="10267950" y="0"/>
                  </a:lnTo>
                  <a:lnTo>
                    <a:pt x="10267950" y="5767959"/>
                  </a:lnTo>
                  <a:lnTo>
                    <a:pt x="0" y="5767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14475" y="5510508"/>
            <a:ext cx="6986588" cy="2228850"/>
            <a:chOff x="0" y="0"/>
            <a:chExt cx="9315450" cy="2971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9315450" cy="2971800"/>
            </a:xfrm>
            <a:custGeom>
              <a:avLst/>
              <a:gdLst/>
              <a:ahLst/>
              <a:cxnLst/>
              <a:rect r="r" b="b" t="t" l="l"/>
              <a:pathLst>
                <a:path h="2971800" w="9315450">
                  <a:moveTo>
                    <a:pt x="0" y="0"/>
                  </a:moveTo>
                  <a:lnTo>
                    <a:pt x="9315450" y="0"/>
                  </a:lnTo>
                  <a:lnTo>
                    <a:pt x="9315450" y="2971800"/>
                  </a:lnTo>
                  <a:lnTo>
                    <a:pt x="0" y="297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7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16350" y="9610725"/>
            <a:ext cx="61436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12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08956" y="4127744"/>
            <a:ext cx="6816709" cy="357188"/>
            <a:chOff x="0" y="0"/>
            <a:chExt cx="9088946" cy="476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88948" cy="476250"/>
            </a:xfrm>
            <a:custGeom>
              <a:avLst/>
              <a:gdLst/>
              <a:ahLst/>
              <a:cxnLst/>
              <a:rect r="r" b="b" t="t" l="l"/>
              <a:pathLst>
                <a:path h="476250" w="9088948">
                  <a:moveTo>
                    <a:pt x="0" y="0"/>
                  </a:moveTo>
                  <a:lnTo>
                    <a:pt x="9088948" y="0"/>
                  </a:lnTo>
                  <a:lnTo>
                    <a:pt x="9088948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21860" r="0" b="-3218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088946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Actor-Critic Architecture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14475" y="4532557"/>
            <a:ext cx="6986588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Splits the unified state vector into actor policy distributions and state value assessments.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38543" y="4127744"/>
            <a:ext cx="6966728" cy="357188"/>
            <a:chOff x="0" y="0"/>
            <a:chExt cx="9288970" cy="476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88972" cy="476250"/>
            </a:xfrm>
            <a:custGeom>
              <a:avLst/>
              <a:gdLst/>
              <a:ahLst/>
              <a:cxnLst/>
              <a:rect r="r" b="b" t="t" l="l"/>
              <a:pathLst>
                <a:path h="476250" w="9288972">
                  <a:moveTo>
                    <a:pt x="0" y="0"/>
                  </a:moveTo>
                  <a:lnTo>
                    <a:pt x="9288972" y="0"/>
                  </a:lnTo>
                  <a:lnTo>
                    <a:pt x="9288972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0043" r="0" b="-33004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28897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4F46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Reward Function Formulation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786938" y="4532557"/>
            <a:ext cx="6986588" cy="76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reinforcement policy optimization relies on a balanced multi-objective reward structure: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01288" y="5558133"/>
            <a:ext cx="64722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Goal Progress: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Positive reward on distance reduction.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01288" y="6015333"/>
            <a:ext cx="64722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Collision Penalty: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Severe penalty on obstacle contact.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01288" y="6472533"/>
            <a:ext cx="64722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Smooth Motion: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Penalizes jittery or erratic velocity changes.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01288" y="6929733"/>
            <a:ext cx="64722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Social Space Penalty: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Discourages personal space encroachment.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14475" y="4163463"/>
            <a:ext cx="351606" cy="285750"/>
            <a:chOff x="0" y="0"/>
            <a:chExt cx="468808" cy="381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68757" cy="381000"/>
            </a:xfrm>
            <a:custGeom>
              <a:avLst/>
              <a:gdLst/>
              <a:ahLst/>
              <a:cxnLst/>
              <a:rect r="r" b="b" t="t" l="l"/>
              <a:pathLst>
                <a:path h="381000" w="468757">
                  <a:moveTo>
                    <a:pt x="0" y="0"/>
                  </a:moveTo>
                  <a:lnTo>
                    <a:pt x="468757" y="0"/>
                  </a:lnTo>
                  <a:lnTo>
                    <a:pt x="46875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0" b="-335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786938" y="4163463"/>
            <a:ext cx="208731" cy="285750"/>
            <a:chOff x="0" y="0"/>
            <a:chExt cx="278308" cy="381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278257" cy="381000"/>
            </a:xfrm>
            <a:custGeom>
              <a:avLst/>
              <a:gdLst/>
              <a:ahLst/>
              <a:cxnLst/>
              <a:rect r="r" b="b" t="t" l="l"/>
              <a:pathLst>
                <a:path h="381000" w="278257">
                  <a:moveTo>
                    <a:pt x="0" y="0"/>
                  </a:moveTo>
                  <a:lnTo>
                    <a:pt x="278257" y="0"/>
                  </a:lnTo>
                  <a:lnTo>
                    <a:pt x="27825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8" b="-226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86938" y="5717677"/>
            <a:ext cx="257175" cy="271462"/>
            <a:chOff x="0" y="0"/>
            <a:chExt cx="342900" cy="36195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86938" y="6174877"/>
            <a:ext cx="228600" cy="271462"/>
            <a:chOff x="0" y="0"/>
            <a:chExt cx="304800" cy="36195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86938" y="6632077"/>
            <a:ext cx="257175" cy="271462"/>
            <a:chOff x="0" y="0"/>
            <a:chExt cx="342900" cy="36195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86938" y="7089277"/>
            <a:ext cx="328612" cy="271462"/>
            <a:chOff x="0" y="0"/>
            <a:chExt cx="438150" cy="36195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57288" y="871538"/>
            <a:ext cx="15973425" cy="214312"/>
            <a:chOff x="0" y="0"/>
            <a:chExt cx="21297900" cy="285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2979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02284" r="0" b="-140228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1297900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46E5"/>
                  </a:solidFill>
                  <a:latin typeface="Arimo"/>
                  <a:ea typeface="Arimo"/>
                  <a:cs typeface="Arimo"/>
                  <a:sym typeface="Arimo"/>
                </a:rPr>
                <a:t>DECISION MAKING PPO ARCHITECTURE &amp; OPTIMIZATION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Proximal Policy Optimization (PPO) Network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4456357"/>
            <a:ext cx="5095723" cy="2954160"/>
            <a:chOff x="0" y="0"/>
            <a:chExt cx="6794297" cy="393888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794246" cy="3938905"/>
            </a:xfrm>
            <a:custGeom>
              <a:avLst/>
              <a:gdLst/>
              <a:ahLst/>
              <a:cxnLst/>
              <a:rect r="r" b="b" t="t" l="l"/>
              <a:pathLst>
                <a:path h="3938905" w="6794246">
                  <a:moveTo>
                    <a:pt x="0" y="0"/>
                  </a:moveTo>
                  <a:lnTo>
                    <a:pt x="6794246" y="0"/>
                  </a:lnTo>
                  <a:lnTo>
                    <a:pt x="6794246" y="3938905"/>
                  </a:lnTo>
                  <a:lnTo>
                    <a:pt x="0" y="3938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95910" y="4456357"/>
            <a:ext cx="5095951" cy="2954160"/>
            <a:chOff x="0" y="0"/>
            <a:chExt cx="6794602" cy="393888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794627" cy="3938905"/>
            </a:xfrm>
            <a:custGeom>
              <a:avLst/>
              <a:gdLst/>
              <a:ahLst/>
              <a:cxnLst/>
              <a:rect r="r" b="b" t="t" l="l"/>
              <a:pathLst>
                <a:path h="3938905" w="6794627">
                  <a:moveTo>
                    <a:pt x="0" y="0"/>
                  </a:moveTo>
                  <a:lnTo>
                    <a:pt x="6794627" y="0"/>
                  </a:lnTo>
                  <a:lnTo>
                    <a:pt x="6794627" y="3938905"/>
                  </a:lnTo>
                  <a:lnTo>
                    <a:pt x="0" y="3938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2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34761" y="4456357"/>
            <a:ext cx="5095723" cy="2954160"/>
            <a:chOff x="0" y="0"/>
            <a:chExt cx="6794297" cy="393888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94246" cy="3938905"/>
            </a:xfrm>
            <a:custGeom>
              <a:avLst/>
              <a:gdLst/>
              <a:ahLst/>
              <a:cxnLst/>
              <a:rect r="r" b="b" t="t" l="l"/>
              <a:pathLst>
                <a:path h="3938905" w="6794246">
                  <a:moveTo>
                    <a:pt x="0" y="0"/>
                  </a:moveTo>
                  <a:lnTo>
                    <a:pt x="6794246" y="0"/>
                  </a:lnTo>
                  <a:lnTo>
                    <a:pt x="6794246" y="3938905"/>
                  </a:lnTo>
                  <a:lnTo>
                    <a:pt x="0" y="3938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1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7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16350" y="9610725"/>
            <a:ext cx="614362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13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980381" y="4813544"/>
            <a:ext cx="4111219" cy="357188"/>
            <a:chOff x="0" y="0"/>
            <a:chExt cx="5481625" cy="476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1622" cy="476250"/>
            </a:xfrm>
            <a:custGeom>
              <a:avLst/>
              <a:gdLst/>
              <a:ahLst/>
              <a:cxnLst/>
              <a:rect r="r" b="b" t="t" l="l"/>
              <a:pathLst>
                <a:path h="476250" w="5481622">
                  <a:moveTo>
                    <a:pt x="0" y="0"/>
                  </a:moveTo>
                  <a:lnTo>
                    <a:pt x="5481622" y="0"/>
                  </a:lnTo>
                  <a:lnTo>
                    <a:pt x="5481622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4272" r="0" b="-1742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481625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CUDA &amp; PointNet++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57338" y="5218357"/>
            <a:ext cx="4338485" cy="108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CUDA-dependent custom operators caused build failures and compatibility issues with the ROS 2 setup.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6425" y="6359052"/>
            <a:ext cx="4214660" cy="70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b="true" sz="1462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Resolution: Implemented a lightweight CPU-compatible encoder as a stable fallback.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419003" y="4813544"/>
            <a:ext cx="4111447" cy="459963"/>
            <a:chOff x="0" y="0"/>
            <a:chExt cx="5481930" cy="6132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1934" cy="613283"/>
            </a:xfrm>
            <a:custGeom>
              <a:avLst/>
              <a:gdLst/>
              <a:ahLst/>
              <a:cxnLst/>
              <a:rect r="r" b="b" t="t" l="l"/>
              <a:pathLst>
                <a:path h="613283" w="5481934">
                  <a:moveTo>
                    <a:pt x="0" y="0"/>
                  </a:moveTo>
                  <a:lnTo>
                    <a:pt x="5481934" y="0"/>
                  </a:lnTo>
                  <a:lnTo>
                    <a:pt x="5481934" y="613283"/>
                  </a:lnTo>
                  <a:lnTo>
                    <a:pt x="0" y="6132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5342" r="0" b="-11299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481930" cy="632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Gaz</a:t>
              </a:r>
              <a:r>
                <a:rPr lang="en-US" b="true" sz="2250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ebo Simulation Freezing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995960" y="5218357"/>
            <a:ext cx="4338714" cy="74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Mul</a:t>
            </a: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ti-sensor processing and PPO training caused simulation slowdown.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15562" y="6387627"/>
            <a:ext cx="4214889" cy="68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b="true" sz="1462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Resolution: Optimized update frequencies and reduced computational overhead.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857855" y="4813544"/>
            <a:ext cx="4111219" cy="357188"/>
            <a:chOff x="0" y="0"/>
            <a:chExt cx="5481625" cy="476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1622" cy="476250"/>
            </a:xfrm>
            <a:custGeom>
              <a:avLst/>
              <a:gdLst/>
              <a:ahLst/>
              <a:cxnLst/>
              <a:rect r="r" b="b" t="t" l="l"/>
              <a:pathLst>
                <a:path h="476250" w="5481622">
                  <a:moveTo>
                    <a:pt x="0" y="0"/>
                  </a:moveTo>
                  <a:lnTo>
                    <a:pt x="5481622" y="0"/>
                  </a:lnTo>
                  <a:lnTo>
                    <a:pt x="5481622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4272" r="0" b="-1742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481625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Dynamic Synchronization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434811" y="5218357"/>
            <a:ext cx="4338485" cy="108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Each sensor pipeline (LiDAR, Depth, IMU, Odometry) updated asynchronously, causing fusion lag.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14980" y="6368906"/>
            <a:ext cx="4214660" cy="72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b="true" sz="1462">
                <a:solidFill>
                  <a:srgbClr val="10B981"/>
                </a:solidFill>
                <a:latin typeface="Arimo Bold"/>
                <a:ea typeface="Arimo Bold"/>
                <a:cs typeface="Arimo Bold"/>
                <a:sym typeface="Arimo Bold"/>
              </a:rPr>
              <a:t>Resolution: Used MessageFilters approximate-time policies to align topics.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57338" y="4849263"/>
            <a:ext cx="280168" cy="285750"/>
            <a:chOff x="0" y="0"/>
            <a:chExt cx="373558" cy="3810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3" b="-295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57338" y="6501927"/>
            <a:ext cx="185738" cy="185738"/>
            <a:chOff x="0" y="0"/>
            <a:chExt cx="247650" cy="24765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7692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995960" y="4849263"/>
            <a:ext cx="280168" cy="285750"/>
            <a:chOff x="0" y="0"/>
            <a:chExt cx="373558" cy="3810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3" b="-295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995960" y="6501927"/>
            <a:ext cx="185738" cy="185738"/>
            <a:chOff x="0" y="0"/>
            <a:chExt cx="247650" cy="24765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34811" y="4849263"/>
            <a:ext cx="280168" cy="285750"/>
            <a:chOff x="0" y="0"/>
            <a:chExt cx="373558" cy="381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73507" cy="381000"/>
            </a:xfrm>
            <a:custGeom>
              <a:avLst/>
              <a:gdLst/>
              <a:ahLst/>
              <a:cxnLst/>
              <a:rect r="r" b="b" t="t" l="l"/>
              <a:pathLst>
                <a:path h="381000" w="373507">
                  <a:moveTo>
                    <a:pt x="0" y="0"/>
                  </a:moveTo>
                  <a:lnTo>
                    <a:pt x="373507" y="0"/>
                  </a:lnTo>
                  <a:lnTo>
                    <a:pt x="373507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2006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434811" y="6501927"/>
            <a:ext cx="185738" cy="185738"/>
            <a:chOff x="0" y="0"/>
            <a:chExt cx="247650" cy="2476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57288" y="871538"/>
            <a:ext cx="15973425" cy="214312"/>
            <a:chOff x="0" y="0"/>
            <a:chExt cx="21297900" cy="2857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2979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02284" r="0" b="-14022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21297900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46E5"/>
                  </a:solidFill>
                  <a:latin typeface="Arimo"/>
                  <a:ea typeface="Arimo"/>
                  <a:cs typeface="Arimo"/>
                  <a:sym typeface="Arimo"/>
                </a:rPr>
                <a:t>EXECUTION DIAGNOSTICS CHALLENGES &amp; RESOLUTIONS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Challenges Faced &amp; Resolutions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4379109"/>
            <a:ext cx="7558088" cy="1651549"/>
            <a:chOff x="0" y="0"/>
            <a:chExt cx="10077450" cy="220206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077450" cy="2202053"/>
            </a:xfrm>
            <a:custGeom>
              <a:avLst/>
              <a:gdLst/>
              <a:ahLst/>
              <a:cxnLst/>
              <a:rect r="r" b="b" t="t" l="l"/>
              <a:pathLst>
                <a:path h="2202053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2202053"/>
                  </a:lnTo>
                  <a:lnTo>
                    <a:pt x="0" y="2202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57288" y="9401175"/>
            <a:ext cx="15973425" cy="442912"/>
            <a:chOff x="0" y="0"/>
            <a:chExt cx="21297900" cy="5905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297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7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7288" y="9610725"/>
            <a:ext cx="217170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Hospital Social Navigation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02062" y="9610725"/>
            <a:ext cx="628650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Slide 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7288" y="3864769"/>
            <a:ext cx="7558088" cy="96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All core layers of the perception, localization, fusion, state-aggregator, and training pipelines are fully implemented.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1638" y="4992433"/>
            <a:ext cx="70437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Sensory Encoders: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Verified independent pipelines for 3D LiDAR, depth, and dynamics.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1638" y="5906833"/>
            <a:ext cx="70437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Tracking Layer: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Completed Kalman trajectory smoothing.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1638" y="6478333"/>
            <a:ext cx="70437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Fusion Module: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Active attention model mapped to 128D space.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1638" y="7049833"/>
            <a:ext cx="7043738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1800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Training Baseline: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Concurrent PPO training and sensor processing increased computational overhead, leading to Gazebo freezes and low real-time factor.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58720" y="4540006"/>
            <a:ext cx="7185898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b="true" sz="1687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ROS 2 Jazzy Integration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72675" y="4946375"/>
            <a:ext cx="6843712" cy="70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462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Full communication loops between nodes and Gazebo Harmonic simulation are established and verified.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57288" y="5151987"/>
            <a:ext cx="228600" cy="271462"/>
            <a:chOff x="0" y="0"/>
            <a:chExt cx="304800" cy="3619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57288" y="6066387"/>
            <a:ext cx="228600" cy="271462"/>
            <a:chOff x="0" y="0"/>
            <a:chExt cx="304800" cy="3619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57288" y="6637887"/>
            <a:ext cx="228600" cy="271462"/>
            <a:chOff x="0" y="0"/>
            <a:chExt cx="304800" cy="3619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57288" y="7209387"/>
            <a:ext cx="228600" cy="271462"/>
            <a:chOff x="0" y="0"/>
            <a:chExt cx="304800" cy="3619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304800" cy="361950"/>
            </a:xfrm>
            <a:custGeom>
              <a:avLst/>
              <a:gdLst/>
              <a:ahLst/>
              <a:cxnLst/>
              <a:rect r="r" b="b" t="t" l="l"/>
              <a:pathLst>
                <a:path h="36195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57288" y="871538"/>
            <a:ext cx="15973425" cy="214312"/>
            <a:chOff x="0" y="0"/>
            <a:chExt cx="21297900" cy="285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2979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02284" r="0" b="-140228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1297900" cy="30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4F46E5"/>
                  </a:solidFill>
                  <a:latin typeface="Arimo"/>
                  <a:ea typeface="Arimo"/>
                  <a:cs typeface="Arimo"/>
                  <a:sym typeface="Arimo"/>
                </a:rPr>
                <a:t>PROJECT BENCHMARKING COMPLETED PIPELINE CHECKLIST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" y="1371600"/>
            <a:ext cx="16547068" cy="651424"/>
            <a:chOff x="0" y="0"/>
            <a:chExt cx="22062758" cy="8685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62756" cy="868560"/>
            </a:xfrm>
            <a:custGeom>
              <a:avLst/>
              <a:gdLst/>
              <a:ahLst/>
              <a:cxnLst/>
              <a:rect r="r" b="b" t="t" l="l"/>
              <a:pathLst>
                <a:path h="868560" w="22062756">
                  <a:moveTo>
                    <a:pt x="0" y="0"/>
                  </a:moveTo>
                  <a:lnTo>
                    <a:pt x="22062756" y="0"/>
                  </a:lnTo>
                  <a:lnTo>
                    <a:pt x="22062756" y="868560"/>
                  </a:lnTo>
                  <a:lnTo>
                    <a:pt x="0" y="868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4949" r="0" b="-4449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14300"/>
              <a:ext cx="22062758" cy="982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55"/>
                </a:lnSpc>
              </a:pPr>
              <a:r>
                <a:rPr lang="en-US" b="true" sz="4275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Status &amp; Accomplishments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57288" y="1371600"/>
            <a:ext cx="71438" cy="651424"/>
            <a:chOff x="0" y="0"/>
            <a:chExt cx="95250" cy="8685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250" cy="868553"/>
            </a:xfrm>
            <a:custGeom>
              <a:avLst/>
              <a:gdLst/>
              <a:ahLst/>
              <a:cxnLst/>
              <a:rect r="r" b="b" t="t" l="l"/>
              <a:pathLst>
                <a:path h="868553" w="95250">
                  <a:moveTo>
                    <a:pt x="0" y="0"/>
                  </a:moveTo>
                  <a:lnTo>
                    <a:pt x="95250" y="0"/>
                  </a:lnTo>
                  <a:lnTo>
                    <a:pt x="95250" y="868553"/>
                  </a:lnTo>
                  <a:lnTo>
                    <a:pt x="0" y="868553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2912" y="2654798"/>
            <a:ext cx="17402175" cy="121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b="true" sz="8100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Thank 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4924425"/>
            <a:ext cx="16573500" cy="859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6"/>
              </a:lnSpc>
            </a:pPr>
            <a:r>
              <a:rPr lang="en-US" sz="31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DAHOO32ZRnk</dc:identifier>
  <dcterms:modified xsi:type="dcterms:W3CDTF">2011-08-01T06:04:30Z</dcterms:modified>
  <cp:revision>1</cp:revision>
  <dc:title>final_presentation.pptx</dc:title>
</cp:coreProperties>
</file>